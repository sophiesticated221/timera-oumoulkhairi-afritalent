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1508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Page de </a:t>
            </a:r>
            <a:r>
              <a:rPr dirty="0" err="1"/>
              <a:t>titre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b="1" u="sng" dirty="0" err="1" smtClean="0"/>
              <a:t>AfriTalent</a:t>
            </a:r>
            <a:r>
              <a:rPr lang="en-US" dirty="0" smtClean="0"/>
              <a:t>:</a:t>
            </a:r>
            <a:r>
              <a:rPr lang="fr-FR" dirty="0"/>
              <a:t>Plateforme de mise en relation entre freelances africains et </a:t>
            </a:r>
            <a:r>
              <a:rPr lang="fr-FR" dirty="0" smtClean="0"/>
              <a:t>entreprises</a:t>
            </a:r>
            <a:endParaRPr dirty="0"/>
          </a:p>
          <a:p>
            <a:pPr marL="0" indent="0">
              <a:buNone/>
            </a:pPr>
            <a:r>
              <a:rPr lang="en-US" b="1" dirty="0" err="1" smtClean="0"/>
              <a:t>Oumoul</a:t>
            </a:r>
            <a:r>
              <a:rPr lang="en-US" b="1" dirty="0" smtClean="0"/>
              <a:t> </a:t>
            </a:r>
            <a:r>
              <a:rPr lang="en-US" b="1" dirty="0" err="1" smtClean="0"/>
              <a:t>Khairi</a:t>
            </a:r>
            <a:r>
              <a:rPr b="1" dirty="0" smtClean="0"/>
              <a:t> </a:t>
            </a:r>
            <a:r>
              <a:rPr b="1" dirty="0" err="1"/>
              <a:t>Timéra</a:t>
            </a:r>
            <a:endParaRPr b="1" dirty="0"/>
          </a:p>
          <a:p>
            <a:pPr marL="0" indent="0">
              <a:buNone/>
            </a:pPr>
            <a:r>
              <a:rPr b="1" dirty="0"/>
              <a:t>ISI </a:t>
            </a:r>
            <a:r>
              <a:rPr b="1" dirty="0" smtClean="0"/>
              <a:t>—</a:t>
            </a:r>
            <a:r>
              <a:rPr lang="en-US" b="1" dirty="0" smtClean="0"/>
              <a:t> L1</a:t>
            </a:r>
            <a:r>
              <a:rPr b="1" dirty="0" smtClean="0"/>
              <a:t> </a:t>
            </a:r>
            <a:r>
              <a:rPr b="1" dirty="0" err="1"/>
              <a:t>Cybersécurité</a:t>
            </a:r>
            <a:endParaRPr b="1" dirty="0"/>
          </a:p>
          <a:p>
            <a:pPr marL="0" indent="0">
              <a:buNone/>
            </a:pPr>
            <a:r>
              <a:rPr lang="en-US" b="1" dirty="0" smtClean="0"/>
              <a:t>31-05-2026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Sommaire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 err="1"/>
              <a:t>Présentation</a:t>
            </a:r>
            <a:r>
              <a:rPr dirty="0"/>
              <a:t> du </a:t>
            </a:r>
            <a:r>
              <a:rPr dirty="0" err="1"/>
              <a:t>projet</a:t>
            </a:r>
            <a:endParaRPr dirty="0"/>
          </a:p>
          <a:p>
            <a:r>
              <a:rPr dirty="0"/>
              <a:t>Design &amp; inspirations</a:t>
            </a:r>
          </a:p>
          <a:p>
            <a:r>
              <a:rPr dirty="0"/>
              <a:t>Architecture du site</a:t>
            </a:r>
          </a:p>
          <a:p>
            <a:r>
              <a:rPr dirty="0"/>
              <a:t>Aspects techniques</a:t>
            </a:r>
          </a:p>
          <a:p>
            <a:r>
              <a:rPr dirty="0"/>
              <a:t>GitHub &amp; workflow</a:t>
            </a:r>
          </a:p>
          <a:p>
            <a:r>
              <a:rPr dirty="0" err="1"/>
              <a:t>Difficultés</a:t>
            </a:r>
            <a:r>
              <a:rPr dirty="0"/>
              <a:t> </a:t>
            </a:r>
            <a:r>
              <a:rPr dirty="0" err="1"/>
              <a:t>rencontrées</a:t>
            </a:r>
            <a:endParaRPr dirty="0"/>
          </a:p>
          <a:p>
            <a:r>
              <a:rPr dirty="0" err="1"/>
              <a:t>Ressources</a:t>
            </a:r>
            <a:r>
              <a:rPr dirty="0"/>
              <a:t> </a:t>
            </a:r>
            <a:r>
              <a:rPr dirty="0" err="1"/>
              <a:t>utilisées</a:t>
            </a:r>
            <a:endParaRPr dirty="0"/>
          </a:p>
          <a:p>
            <a:r>
              <a:rPr dirty="0"/>
              <a:t>Conclusion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Présentation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Projet académique visant à démontrer la maîtrise du HTML, CSS, JavaScript, Bootstrap et GitHub.</a:t>
            </a:r>
          </a:p>
          <a:p>
            <a:r>
              <a:t>Objectif : créer une plateforme moderne reliant freelances africains et entreprises.</a:t>
            </a:r>
          </a:p>
          <a:p>
            <a:r>
              <a:t>Public cible : freelances tech, startups et entreprises digitales.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Palette &amp; identité visuelle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Bleu </a:t>
            </a:r>
            <a:r>
              <a:rPr dirty="0" err="1"/>
              <a:t>nuit</a:t>
            </a:r>
            <a:r>
              <a:rPr dirty="0"/>
              <a:t> : #002244</a:t>
            </a:r>
          </a:p>
          <a:p>
            <a:r>
              <a:rPr dirty="0"/>
              <a:t>Bleu </a:t>
            </a:r>
            <a:r>
              <a:rPr dirty="0" err="1"/>
              <a:t>clair</a:t>
            </a:r>
            <a:r>
              <a:rPr dirty="0"/>
              <a:t> : #06b6d4</a:t>
            </a:r>
          </a:p>
          <a:p>
            <a:r>
              <a:rPr dirty="0"/>
              <a:t>Fond </a:t>
            </a:r>
            <a:r>
              <a:rPr dirty="0" err="1"/>
              <a:t>clair</a:t>
            </a:r>
            <a:r>
              <a:rPr dirty="0"/>
              <a:t> : #f8fafc</a:t>
            </a:r>
          </a:p>
          <a:p>
            <a:r>
              <a:rPr dirty="0"/>
              <a:t>Fond </a:t>
            </a:r>
            <a:r>
              <a:rPr dirty="0" err="1"/>
              <a:t>sombre</a:t>
            </a:r>
            <a:r>
              <a:rPr dirty="0"/>
              <a:t> : #020617</a:t>
            </a:r>
          </a:p>
          <a:p>
            <a:r>
              <a:rPr lang="fr-FR" dirty="0"/>
              <a:t>J’ai choisi une palette basée sur des tons de bleu afin de transmettre une image professionnelle, moderne et technologique.</a:t>
            </a:r>
            <a:br>
              <a:rPr lang="fr-FR" dirty="0"/>
            </a:br>
            <a:r>
              <a:rPr lang="fr-FR" dirty="0"/>
              <a:t>Le bleu nuit apporte du sérieux et de l’élégance tandis que le bleu clair permet de dynamiser l’interface sans utiliser de couleurs trop agressives.</a:t>
            </a:r>
            <a:br>
              <a:rPr lang="fr-FR" dirty="0"/>
            </a:br>
            <a:r>
              <a:rPr lang="fr-FR" dirty="0"/>
              <a:t>L’objectif était de créer une plateforme sobre, lisible et agréable aussi bien en mode clair qu’en mode </a:t>
            </a:r>
            <a:r>
              <a:rPr lang="fr-FR" dirty="0" smtClean="0"/>
              <a:t>sombre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Typographie &amp; inspirations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Police </a:t>
            </a:r>
            <a:r>
              <a:rPr dirty="0" err="1"/>
              <a:t>titres</a:t>
            </a:r>
            <a:r>
              <a:rPr dirty="0"/>
              <a:t> : Poppins</a:t>
            </a:r>
          </a:p>
          <a:p>
            <a:r>
              <a:rPr dirty="0"/>
              <a:t>Police </a:t>
            </a:r>
            <a:r>
              <a:rPr dirty="0" err="1"/>
              <a:t>texte</a:t>
            </a:r>
            <a:r>
              <a:rPr dirty="0"/>
              <a:t> : </a:t>
            </a:r>
            <a:r>
              <a:rPr dirty="0" smtClean="0"/>
              <a:t>Inter</a:t>
            </a:r>
            <a:endParaRPr lang="en-US" dirty="0" smtClean="0"/>
          </a:p>
          <a:p>
            <a:r>
              <a:rPr lang="fr-FR" dirty="0"/>
              <a:t>Inspirations : </a:t>
            </a:r>
            <a:r>
              <a:rPr lang="fr-FR" dirty="0" err="1"/>
              <a:t>CyberWarGame</a:t>
            </a:r>
            <a:r>
              <a:rPr lang="fr-FR" dirty="0"/>
              <a:t> et plateformes freelances modernes tells que </a:t>
            </a:r>
            <a:r>
              <a:rPr lang="fr-FR" dirty="0" smtClean="0"/>
              <a:t>IWORKS</a:t>
            </a:r>
            <a:endParaRPr dirty="0"/>
          </a:p>
          <a:p>
            <a:r>
              <a:rPr dirty="0" err="1" smtClean="0"/>
              <a:t>Objectif</a:t>
            </a:r>
            <a:r>
              <a:rPr dirty="0" smtClean="0"/>
              <a:t> </a:t>
            </a:r>
            <a:r>
              <a:rPr dirty="0"/>
              <a:t>: </a:t>
            </a:r>
            <a:r>
              <a:rPr dirty="0" err="1"/>
              <a:t>lisibilité</a:t>
            </a:r>
            <a:r>
              <a:rPr dirty="0"/>
              <a:t> et </a:t>
            </a:r>
            <a:r>
              <a:rPr dirty="0" err="1"/>
              <a:t>hiérarchie</a:t>
            </a:r>
            <a:r>
              <a:rPr dirty="0"/>
              <a:t> </a:t>
            </a:r>
            <a:r>
              <a:rPr dirty="0" err="1"/>
              <a:t>visuelle</a:t>
            </a:r>
            <a:r>
              <a:rPr dirty="0"/>
              <a:t> </a:t>
            </a:r>
            <a:r>
              <a:rPr dirty="0" err="1"/>
              <a:t>claire</a:t>
            </a:r>
            <a:r>
              <a:rPr dirty="0" smtClean="0"/>
              <a:t>.</a:t>
            </a:r>
            <a:r>
              <a:rPr lang="fr-FR" dirty="0"/>
              <a:t> La police </a:t>
            </a:r>
            <a:r>
              <a:rPr lang="fr-FR" dirty="0" err="1"/>
              <a:t>Poppins</a:t>
            </a:r>
            <a:r>
              <a:rPr lang="fr-FR" dirty="0"/>
              <a:t> a été choisie pour son style moderne et impactant, idéal pour mettre les titres en valeur.</a:t>
            </a:r>
            <a:br>
              <a:rPr lang="fr-FR" dirty="0"/>
            </a:br>
            <a:r>
              <a:rPr lang="fr-FR" dirty="0"/>
              <a:t>La police Inter offre une excellente lisibilité pour les paragraphes et améliore le confort de lecture sur tous les écrans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dirty="0"/>
              <a:t>Structure </a:t>
            </a:r>
            <a:r>
              <a:rPr dirty="0" err="1"/>
              <a:t>organisée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HTML / CSS / JS.</a:t>
            </a:r>
          </a:p>
          <a:p>
            <a:r>
              <a:rPr dirty="0" err="1"/>
              <a:t>Séparation</a:t>
            </a:r>
            <a:r>
              <a:rPr dirty="0"/>
              <a:t> des </a:t>
            </a:r>
            <a:r>
              <a:rPr dirty="0" err="1"/>
              <a:t>ressources</a:t>
            </a:r>
            <a:r>
              <a:rPr dirty="0"/>
              <a:t> et </a:t>
            </a:r>
            <a:r>
              <a:rPr dirty="0" err="1"/>
              <a:t>logique</a:t>
            </a:r>
            <a:r>
              <a:rPr dirty="0"/>
              <a:t> </a:t>
            </a:r>
            <a:r>
              <a:rPr dirty="0" err="1"/>
              <a:t>modulaire</a:t>
            </a:r>
            <a:r>
              <a:rPr dirty="0"/>
              <a:t>.</a:t>
            </a:r>
          </a:p>
          <a:p>
            <a:r>
              <a:rPr dirty="0"/>
              <a:t>Pages </a:t>
            </a:r>
            <a:r>
              <a:rPr dirty="0" err="1"/>
              <a:t>principales</a:t>
            </a:r>
            <a:r>
              <a:rPr dirty="0"/>
              <a:t> : </a:t>
            </a:r>
            <a:r>
              <a:rPr dirty="0" err="1"/>
              <a:t>accueil</a:t>
            </a:r>
            <a:r>
              <a:rPr dirty="0"/>
              <a:t>, freelances, </a:t>
            </a:r>
            <a:r>
              <a:rPr dirty="0" err="1"/>
              <a:t>tarifs</a:t>
            </a:r>
            <a:r>
              <a:rPr dirty="0"/>
              <a:t>, contact, about</a:t>
            </a:r>
            <a:r>
              <a:rPr dirty="0" smtClean="0"/>
              <a:t>.</a:t>
            </a:r>
            <a:endParaRPr lang="en-US" dirty="0" smtClean="0"/>
          </a:p>
          <a:p>
            <a:r>
              <a:rPr lang="en-US" dirty="0" err="1"/>
              <a:t>Arborescense</a:t>
            </a:r>
            <a:r>
              <a:rPr lang="en-US" dirty="0" smtClean="0"/>
              <a:t>:</a:t>
            </a:r>
          </a:p>
          <a:p>
            <a:r>
              <a:rPr lang="en-US" dirty="0"/>
              <a:t> </a:t>
            </a:r>
            <a:r>
              <a:rPr lang="en-US" dirty="0" err="1" smtClean="0"/>
              <a:t>AfriTalent</a:t>
            </a:r>
            <a:r>
              <a:rPr lang="en-US" dirty="0" smtClean="0"/>
              <a:t>/</a:t>
            </a:r>
            <a:endParaRPr lang="en-US" dirty="0"/>
          </a:p>
          <a:p>
            <a:r>
              <a:rPr lang="en-US" dirty="0"/>
              <a:t>├── index.html</a:t>
            </a:r>
          </a:p>
          <a:p>
            <a:r>
              <a:rPr lang="en-US" dirty="0"/>
              <a:t>├── freelances.html</a:t>
            </a:r>
          </a:p>
          <a:p>
            <a:r>
              <a:rPr lang="en-US" dirty="0"/>
              <a:t>├── tarifs.html</a:t>
            </a:r>
          </a:p>
          <a:p>
            <a:r>
              <a:rPr lang="en-US" dirty="0"/>
              <a:t>├── about.html</a:t>
            </a:r>
          </a:p>
          <a:p>
            <a:r>
              <a:rPr lang="en-US" dirty="0"/>
              <a:t>├── contact.html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</a:t>
            </a:r>
            <a:r>
              <a:rPr lang="en-US" dirty="0" err="1"/>
              <a:t>css</a:t>
            </a:r>
            <a:r>
              <a:rPr lang="en-US" dirty="0"/>
              <a:t>/style.css</a:t>
            </a:r>
          </a:p>
          <a:p>
            <a:r>
              <a:rPr lang="en-US" dirty="0"/>
              <a:t>├── </a:t>
            </a:r>
            <a:r>
              <a:rPr lang="en-US" dirty="0" err="1"/>
              <a:t>js</a:t>
            </a:r>
            <a:r>
              <a:rPr lang="en-US" dirty="0"/>
              <a:t>/main.js</a:t>
            </a:r>
          </a:p>
          <a:p>
            <a:r>
              <a:rPr lang="en-US" dirty="0"/>
              <a:t>└── images/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46830"/>
            <a:ext cx="8229600" cy="1143000"/>
          </a:xfrm>
        </p:spPr>
        <p:txBody>
          <a:bodyPr/>
          <a:lstStyle/>
          <a:p>
            <a:r>
              <a:rPr dirty="0"/>
              <a:t>Pages du 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 err="1" smtClean="0"/>
              <a:t>Accueil</a:t>
            </a:r>
            <a:r>
              <a:rPr lang="en-US" dirty="0" smtClean="0"/>
              <a:t> </a:t>
            </a:r>
          </a:p>
          <a:p>
            <a:endParaRPr dirty="0"/>
          </a:p>
          <a:p>
            <a:endParaRPr dirty="0"/>
          </a:p>
          <a:p>
            <a:r>
              <a:rPr lang="en-US" dirty="0" smtClean="0"/>
              <a:t>Freelances</a:t>
            </a:r>
          </a:p>
          <a:p>
            <a:endParaRPr lang="en-US" dirty="0" smtClean="0"/>
          </a:p>
          <a:p>
            <a:r>
              <a:rPr lang="en-US" dirty="0" err="1" smtClean="0"/>
              <a:t>Tarifs</a:t>
            </a:r>
            <a:endParaRPr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400" y="939740"/>
            <a:ext cx="2794000" cy="151136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400" y="1104840"/>
            <a:ext cx="3073399" cy="151136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1684" y="2819400"/>
            <a:ext cx="2438400" cy="1600200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401" y="2819400"/>
            <a:ext cx="3073400" cy="1600200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544" y="4602161"/>
            <a:ext cx="2786680" cy="1706563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541" y="4602161"/>
            <a:ext cx="3224742" cy="1727202"/>
          </a:xfrm>
          <a:prstGeom prst="rect">
            <a:avLst/>
          </a:prstGeom>
        </p:spPr>
      </p:pic>
      <p:sp>
        <p:nvSpPr>
          <p:cNvPr id="17" name="Title 1"/>
          <p:cNvSpPr txBox="1">
            <a:spLocks/>
          </p:cNvSpPr>
          <p:nvPr/>
        </p:nvSpPr>
        <p:spPr>
          <a:xfrm>
            <a:off x="0" y="6365874"/>
            <a:ext cx="5380084" cy="528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800" dirty="0" smtClean="0"/>
              <a:t>Les pages about et Contact suivent la même logique</a:t>
            </a:r>
            <a:endParaRPr lang="fr-FR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Fonctionnalités</a:t>
            </a:r>
            <a:r>
              <a:rPr dirty="0"/>
              <a:t> JavaScript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sz="4200" b="1" dirty="0"/>
              <a:t>Dark mode avec </a:t>
            </a:r>
            <a:r>
              <a:rPr sz="4200" b="1" dirty="0" err="1" smtClean="0"/>
              <a:t>localStorage</a:t>
            </a:r>
            <a:endParaRPr lang="en-US" sz="4200" b="1" dirty="0" smtClean="0"/>
          </a:p>
          <a:p>
            <a:r>
              <a:rPr lang="fr-FR" sz="4000" dirty="0" err="1">
                <a:solidFill>
                  <a:schemeClr val="accent4"/>
                </a:solidFill>
              </a:rPr>
              <a:t>document</a:t>
            </a:r>
            <a:r>
              <a:rPr lang="fr-FR" sz="4000" dirty="0" err="1">
                <a:solidFill>
                  <a:srgbClr val="FF0000"/>
                </a:solidFill>
              </a:rPr>
              <a:t>.</a:t>
            </a:r>
            <a:r>
              <a:rPr lang="fr-FR" sz="4000" dirty="0" err="1"/>
              <a:t>body.classList.toggle</a:t>
            </a:r>
            <a:r>
              <a:rPr lang="fr-FR" sz="4000" dirty="0"/>
              <a:t>(</a:t>
            </a:r>
            <a:r>
              <a:rPr lang="fr-FR" sz="4000" dirty="0">
                <a:solidFill>
                  <a:srgbClr val="00B050"/>
                </a:solidFill>
              </a:rPr>
              <a:t>"</a:t>
            </a:r>
            <a:r>
              <a:rPr lang="fr-FR" sz="4000" dirty="0" err="1">
                <a:solidFill>
                  <a:srgbClr val="00B050"/>
                </a:solidFill>
              </a:rPr>
              <a:t>dark</a:t>
            </a:r>
            <a:r>
              <a:rPr lang="fr-FR" sz="4000" dirty="0">
                <a:solidFill>
                  <a:srgbClr val="00B050"/>
                </a:solidFill>
              </a:rPr>
              <a:t>-mode</a:t>
            </a:r>
            <a:r>
              <a:rPr lang="fr-FR" sz="4000" dirty="0" smtClean="0">
                <a:solidFill>
                  <a:srgbClr val="00B050"/>
                </a:solidFill>
              </a:rPr>
              <a:t>"</a:t>
            </a:r>
            <a:r>
              <a:rPr lang="fr-FR" sz="4000" dirty="0" smtClean="0"/>
              <a:t>); </a:t>
            </a:r>
          </a:p>
          <a:p>
            <a:r>
              <a:rPr lang="fr-FR" sz="4000" b="1" u="sng" dirty="0" smtClean="0"/>
              <a:t>Logique: </a:t>
            </a:r>
            <a:r>
              <a:rPr lang="fr-FR" sz="4000" dirty="0" smtClean="0"/>
              <a:t>Cette fonction permet d’activer ou dé</a:t>
            </a:r>
            <a:r>
              <a:rPr lang="en-US" sz="4000" dirty="0" err="1" smtClean="0"/>
              <a:t>sactiver</a:t>
            </a:r>
            <a:r>
              <a:rPr lang="en-US" sz="4000" dirty="0" smtClean="0"/>
              <a:t> le mode somber </a:t>
            </a:r>
            <a:r>
              <a:rPr lang="en-US" sz="4000" dirty="0" err="1" smtClean="0"/>
              <a:t>dynamiquement</a:t>
            </a:r>
            <a:r>
              <a:rPr lang="en-US" sz="4000" dirty="0" smtClean="0"/>
              <a:t> </a:t>
            </a:r>
            <a:r>
              <a:rPr lang="en-US" sz="4000" dirty="0" err="1" smtClean="0"/>
              <a:t>en</a:t>
            </a:r>
            <a:r>
              <a:rPr lang="en-US" sz="4000" dirty="0" smtClean="0"/>
              <a:t> </a:t>
            </a:r>
            <a:r>
              <a:rPr lang="en-US" sz="4000" dirty="0" err="1" smtClean="0"/>
              <a:t>ajoutant</a:t>
            </a:r>
            <a:r>
              <a:rPr lang="en-US" sz="4000" dirty="0" smtClean="0"/>
              <a:t> </a:t>
            </a:r>
            <a:r>
              <a:rPr lang="en-US" sz="4000" dirty="0" err="1" smtClean="0"/>
              <a:t>une</a:t>
            </a:r>
            <a:r>
              <a:rPr lang="en-US" sz="4000" dirty="0" smtClean="0"/>
              <a:t> </a:t>
            </a:r>
            <a:r>
              <a:rPr lang="en-US" sz="4000" dirty="0" err="1" smtClean="0"/>
              <a:t>classe</a:t>
            </a:r>
            <a:r>
              <a:rPr lang="en-US" sz="4000" dirty="0" smtClean="0"/>
              <a:t> CSS au body</a:t>
            </a:r>
            <a:endParaRPr sz="4000" dirty="0"/>
          </a:p>
          <a:p>
            <a:r>
              <a:rPr sz="4200" b="1" dirty="0" err="1"/>
              <a:t>Filtrage</a:t>
            </a:r>
            <a:r>
              <a:rPr sz="4200" b="1" dirty="0"/>
              <a:t> </a:t>
            </a:r>
            <a:r>
              <a:rPr sz="4200" b="1" dirty="0" err="1"/>
              <a:t>dynamique</a:t>
            </a:r>
            <a:r>
              <a:rPr sz="4200" b="1" dirty="0"/>
              <a:t> des </a:t>
            </a:r>
            <a:r>
              <a:rPr sz="4200" b="1" dirty="0" smtClean="0"/>
              <a:t>freelances</a:t>
            </a:r>
            <a:endParaRPr lang="en-US" sz="4200" b="1" dirty="0" smtClean="0"/>
          </a:p>
          <a:p>
            <a:r>
              <a:rPr lang="en-US" sz="4000" dirty="0" err="1">
                <a:solidFill>
                  <a:srgbClr val="FF0000"/>
                </a:solidFill>
              </a:rPr>
              <a:t>const</a:t>
            </a:r>
            <a:r>
              <a:rPr lang="en-US" sz="4000" dirty="0"/>
              <a:t> cards </a:t>
            </a:r>
            <a:r>
              <a:rPr lang="en-US" sz="4000" dirty="0">
                <a:solidFill>
                  <a:srgbClr val="FF0000"/>
                </a:solidFill>
              </a:rPr>
              <a:t>=</a:t>
            </a:r>
            <a:r>
              <a:rPr lang="en-US" sz="4000" dirty="0"/>
              <a:t> </a:t>
            </a:r>
            <a:r>
              <a:rPr lang="en-US" sz="4000" dirty="0" err="1">
                <a:solidFill>
                  <a:srgbClr val="7030A0"/>
                </a:solidFill>
              </a:rPr>
              <a:t>document</a:t>
            </a:r>
            <a:r>
              <a:rPr lang="en-US" sz="4000" dirty="0" err="1"/>
              <a:t>.querySelectorAll</a:t>
            </a:r>
            <a:r>
              <a:rPr lang="en-US" sz="4000" dirty="0"/>
              <a:t>("</a:t>
            </a:r>
            <a:r>
              <a:rPr lang="en-US" sz="4000" dirty="0">
                <a:solidFill>
                  <a:srgbClr val="00B050"/>
                </a:solidFill>
              </a:rPr>
              <a:t>.freelance-card</a:t>
            </a:r>
            <a:r>
              <a:rPr lang="en-US" sz="4000" dirty="0" smtClean="0"/>
              <a:t>");</a:t>
            </a:r>
            <a:r>
              <a:rPr lang="en-US" sz="4000" dirty="0"/>
              <a:t/>
            </a:r>
            <a:br>
              <a:rPr lang="en-US" sz="4000" dirty="0"/>
            </a:br>
            <a:r>
              <a:rPr lang="en-US" sz="4000" dirty="0">
                <a:solidFill>
                  <a:srgbClr val="FF0000"/>
                </a:solidFill>
              </a:rPr>
              <a:t>function</a:t>
            </a:r>
            <a:r>
              <a:rPr lang="en-US" sz="4000" dirty="0"/>
              <a:t> </a:t>
            </a:r>
            <a:r>
              <a:rPr lang="en-US" sz="4000" dirty="0" err="1">
                <a:solidFill>
                  <a:srgbClr val="7030A0"/>
                </a:solidFill>
              </a:rPr>
              <a:t>filterFreelancers</a:t>
            </a:r>
            <a:r>
              <a:rPr lang="en-US" sz="4000" dirty="0"/>
              <a:t>(</a:t>
            </a:r>
            <a:r>
              <a:rPr lang="en-US" sz="4000" dirty="0">
                <a:solidFill>
                  <a:srgbClr val="7030A0"/>
                </a:solidFill>
              </a:rPr>
              <a:t>category</a:t>
            </a:r>
            <a:r>
              <a:rPr lang="en-US" sz="4000" dirty="0"/>
              <a:t>) {</a:t>
            </a:r>
            <a:br>
              <a:rPr lang="en-US" sz="4000" dirty="0"/>
            </a:br>
            <a:r>
              <a:rPr lang="en-US" sz="4000" dirty="0" err="1"/>
              <a:t>cards.forEach</a:t>
            </a:r>
            <a:r>
              <a:rPr lang="en-US" sz="4000" dirty="0"/>
              <a:t>(card =&gt; {</a:t>
            </a:r>
            <a:endParaRPr lang="en-US" sz="4000" b="1" dirty="0" smtClean="0"/>
          </a:p>
          <a:p>
            <a:r>
              <a:rPr lang="fr-FR" sz="4000" dirty="0">
                <a:solidFill>
                  <a:srgbClr val="FF0000"/>
                </a:solidFill>
              </a:rPr>
              <a:t>if </a:t>
            </a:r>
            <a:r>
              <a:rPr lang="fr-FR" sz="4000" dirty="0"/>
              <a:t>(</a:t>
            </a:r>
            <a:r>
              <a:rPr lang="fr-FR" sz="4000" dirty="0" err="1">
                <a:solidFill>
                  <a:schemeClr val="accent4"/>
                </a:solidFill>
              </a:rPr>
              <a:t>filter</a:t>
            </a:r>
            <a:r>
              <a:rPr lang="fr-FR" sz="4000" dirty="0"/>
              <a:t> </a:t>
            </a:r>
            <a:r>
              <a:rPr lang="fr-FR" sz="4000" dirty="0">
                <a:solidFill>
                  <a:srgbClr val="FF0000"/>
                </a:solidFill>
              </a:rPr>
              <a:t>===</a:t>
            </a:r>
            <a:r>
              <a:rPr lang="fr-FR" sz="4000" dirty="0"/>
              <a:t> </a:t>
            </a:r>
            <a:r>
              <a:rPr lang="fr-FR" sz="4000" dirty="0">
                <a:solidFill>
                  <a:srgbClr val="00B050"/>
                </a:solidFill>
              </a:rPr>
              <a:t>'all' </a:t>
            </a:r>
            <a:r>
              <a:rPr lang="fr-FR" sz="4000" dirty="0">
                <a:solidFill>
                  <a:srgbClr val="FF0000"/>
                </a:solidFill>
              </a:rPr>
              <a:t>||</a:t>
            </a:r>
            <a:r>
              <a:rPr lang="fr-FR" sz="4000" dirty="0"/>
              <a:t> </a:t>
            </a:r>
            <a:r>
              <a:rPr lang="fr-FR" sz="4000" dirty="0" err="1">
                <a:solidFill>
                  <a:schemeClr val="accent4"/>
                </a:solidFill>
              </a:rPr>
              <a:t>filter</a:t>
            </a:r>
            <a:r>
              <a:rPr lang="fr-FR" sz="4000" dirty="0"/>
              <a:t> </a:t>
            </a:r>
            <a:r>
              <a:rPr lang="fr-FR" sz="4000" dirty="0">
                <a:solidFill>
                  <a:srgbClr val="FF0000"/>
                </a:solidFill>
              </a:rPr>
              <a:t>===</a:t>
            </a:r>
            <a:r>
              <a:rPr lang="fr-FR" sz="4000" dirty="0"/>
              <a:t> </a:t>
            </a:r>
            <a:r>
              <a:rPr lang="fr-FR" sz="4000" dirty="0" err="1">
                <a:solidFill>
                  <a:schemeClr val="accent4"/>
                </a:solidFill>
              </a:rPr>
              <a:t>category</a:t>
            </a:r>
            <a:r>
              <a:rPr lang="fr-FR" sz="4000" dirty="0"/>
              <a:t>) {</a:t>
            </a:r>
          </a:p>
          <a:p>
            <a:r>
              <a:rPr lang="fr-FR" sz="4000" dirty="0"/>
              <a:t>    </a:t>
            </a:r>
            <a:r>
              <a:rPr lang="fr-FR" sz="4000" dirty="0" err="1">
                <a:solidFill>
                  <a:schemeClr val="accent4"/>
                </a:solidFill>
              </a:rPr>
              <a:t>item</a:t>
            </a:r>
            <a:r>
              <a:rPr lang="fr-FR" sz="4000" dirty="0" err="1"/>
              <a:t>.style.display</a:t>
            </a:r>
            <a:r>
              <a:rPr lang="fr-FR" sz="4000" dirty="0"/>
              <a:t> </a:t>
            </a:r>
            <a:r>
              <a:rPr lang="fr-FR" sz="4000" dirty="0">
                <a:solidFill>
                  <a:srgbClr val="FF0000"/>
                </a:solidFill>
              </a:rPr>
              <a:t>=</a:t>
            </a:r>
            <a:r>
              <a:rPr lang="fr-FR" sz="4000" dirty="0">
                <a:solidFill>
                  <a:srgbClr val="00B050"/>
                </a:solidFill>
              </a:rPr>
              <a:t> 'block'</a:t>
            </a:r>
            <a:r>
              <a:rPr lang="fr-FR" sz="4000" dirty="0"/>
              <a:t>;</a:t>
            </a:r>
          </a:p>
          <a:p>
            <a:r>
              <a:rPr lang="fr-FR" sz="4000" dirty="0"/>
              <a:t>} </a:t>
            </a:r>
            <a:r>
              <a:rPr lang="fr-FR" sz="4000" dirty="0" err="1">
                <a:solidFill>
                  <a:srgbClr val="FF0000"/>
                </a:solidFill>
              </a:rPr>
              <a:t>else</a:t>
            </a:r>
            <a:r>
              <a:rPr lang="fr-FR" sz="4000" dirty="0"/>
              <a:t> {</a:t>
            </a:r>
          </a:p>
          <a:p>
            <a:r>
              <a:rPr lang="fr-FR" sz="4000" dirty="0"/>
              <a:t>    </a:t>
            </a:r>
            <a:r>
              <a:rPr lang="fr-FR" sz="4000" dirty="0" err="1">
                <a:solidFill>
                  <a:schemeClr val="accent4"/>
                </a:solidFill>
              </a:rPr>
              <a:t>item</a:t>
            </a:r>
            <a:r>
              <a:rPr lang="fr-FR" sz="4000" dirty="0" err="1"/>
              <a:t>.style.display</a:t>
            </a:r>
            <a:r>
              <a:rPr lang="fr-FR" sz="4000" dirty="0"/>
              <a:t> </a:t>
            </a:r>
            <a:r>
              <a:rPr lang="fr-FR" sz="4000" dirty="0">
                <a:solidFill>
                  <a:srgbClr val="FF0000"/>
                </a:solidFill>
              </a:rPr>
              <a:t>=</a:t>
            </a:r>
            <a:r>
              <a:rPr lang="fr-FR" sz="4000" dirty="0"/>
              <a:t> </a:t>
            </a:r>
            <a:r>
              <a:rPr lang="fr-FR" sz="4000" dirty="0" smtClean="0">
                <a:solidFill>
                  <a:srgbClr val="00B050"/>
                </a:solidFill>
              </a:rPr>
              <a:t>'none'</a:t>
            </a:r>
            <a:r>
              <a:rPr lang="fr-FR" sz="4000" dirty="0" smtClean="0"/>
              <a:t>;</a:t>
            </a:r>
            <a:endParaRPr lang="fr-FR" sz="4000" dirty="0"/>
          </a:p>
          <a:p>
            <a:r>
              <a:rPr lang="fr-FR" sz="4000" dirty="0" smtClean="0"/>
              <a:t>}</a:t>
            </a:r>
          </a:p>
          <a:p>
            <a:r>
              <a:rPr lang="en-US" sz="4000" dirty="0" smtClean="0"/>
              <a:t>});</a:t>
            </a:r>
          </a:p>
          <a:p>
            <a:r>
              <a:rPr lang="en-US" sz="4000" dirty="0"/>
              <a:t>}</a:t>
            </a:r>
            <a:endParaRPr lang="fr-FR" sz="4000" dirty="0" smtClean="0"/>
          </a:p>
          <a:p>
            <a:r>
              <a:rPr lang="en-US" sz="4200" b="1" u="sng" dirty="0" err="1" smtClean="0"/>
              <a:t>Logique</a:t>
            </a:r>
            <a:r>
              <a:rPr lang="en-US" sz="4200" b="1" u="sng" dirty="0" smtClean="0"/>
              <a:t>: </a:t>
            </a:r>
            <a:r>
              <a:rPr lang="fr-FR" sz="4200" dirty="0" smtClean="0"/>
              <a:t>Cette </a:t>
            </a:r>
            <a:r>
              <a:rPr lang="fr-FR" sz="4200" dirty="0"/>
              <a:t>fonctionnalité permet d’afficher dynamiquement les freelances selon la catégorie choisie par l’utilisateur.</a:t>
            </a:r>
            <a:br>
              <a:rPr lang="fr-FR" sz="4200" dirty="0"/>
            </a:br>
            <a:r>
              <a:rPr lang="fr-FR" sz="4200" dirty="0"/>
              <a:t>Lorsqu’un filtre est sélectionné, JavaScript compare la catégorie du bouton avec celle des cartes freelances afin d’afficher uniquement les profils correspondants</a:t>
            </a:r>
            <a:r>
              <a:rPr lang="fr-FR" sz="4200" dirty="0" smtClean="0"/>
              <a:t>.</a:t>
            </a:r>
            <a:endParaRPr lang="en-US" sz="42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CSS &amp; Bootstrap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97900" cy="4525963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 smtClean="0"/>
              <a:t>CSS (style </a:t>
            </a:r>
            <a:r>
              <a:rPr lang="en-US" b="1" dirty="0" err="1" smtClean="0"/>
              <a:t>personnalis</a:t>
            </a:r>
            <a:r>
              <a:rPr lang="fr-FR" b="1" dirty="0" smtClean="0"/>
              <a:t>é</a:t>
            </a:r>
            <a:r>
              <a:rPr lang="en-US" b="1" dirty="0" smtClean="0"/>
              <a:t>)</a:t>
            </a:r>
          </a:p>
          <a:p>
            <a:r>
              <a:rPr lang="en-US" dirty="0" err="1" smtClean="0"/>
              <a:t>Utilisation</a:t>
            </a:r>
            <a:r>
              <a:rPr lang="en-US" dirty="0" smtClean="0"/>
              <a:t> de Flexbox / Grid pour </a:t>
            </a:r>
            <a:r>
              <a:rPr lang="en-US" dirty="0" err="1" smtClean="0"/>
              <a:t>l’organisation</a:t>
            </a:r>
            <a:endParaRPr dirty="0" smtClean="0"/>
          </a:p>
          <a:p>
            <a:r>
              <a:rPr dirty="0" smtClean="0"/>
              <a:t>Responsive design avec media queries</a:t>
            </a:r>
            <a:endParaRPr lang="en-US" dirty="0" smtClean="0"/>
          </a:p>
          <a:p>
            <a:r>
              <a:rPr lang="en-US" dirty="0" smtClean="0"/>
              <a:t>Styles </a:t>
            </a:r>
            <a:r>
              <a:rPr lang="en-US" dirty="0" err="1" smtClean="0"/>
              <a:t>personnalis</a:t>
            </a:r>
            <a:r>
              <a:rPr lang="fr-FR" dirty="0" smtClean="0"/>
              <a:t>é</a:t>
            </a:r>
            <a:r>
              <a:rPr lang="en-US" dirty="0" smtClean="0"/>
              <a:t>s pour les </a:t>
            </a:r>
            <a:r>
              <a:rPr lang="en-US" dirty="0" err="1" smtClean="0"/>
              <a:t>composants</a:t>
            </a:r>
            <a:endParaRPr lang="en-US" dirty="0" smtClean="0"/>
          </a:p>
          <a:p>
            <a:r>
              <a:rPr lang="en-US" dirty="0" err="1" smtClean="0"/>
              <a:t>Effets</a:t>
            </a:r>
            <a:r>
              <a:rPr lang="en-US" dirty="0" smtClean="0"/>
              <a:t> hover et transitions pour am</a:t>
            </a:r>
            <a:r>
              <a:rPr lang="fr-FR" dirty="0" smtClean="0"/>
              <a:t>é</a:t>
            </a:r>
            <a:r>
              <a:rPr lang="en-US" dirty="0" err="1" smtClean="0"/>
              <a:t>liorer</a:t>
            </a:r>
            <a:r>
              <a:rPr lang="en-US" dirty="0" smtClean="0"/>
              <a:t> </a:t>
            </a:r>
            <a:r>
              <a:rPr lang="en-US" dirty="0" err="1" smtClean="0"/>
              <a:t>l’UX</a:t>
            </a:r>
            <a:endParaRPr dirty="0" smtClean="0"/>
          </a:p>
          <a:p>
            <a:r>
              <a:rPr b="1" dirty="0" smtClean="0"/>
              <a:t>Bootstrap</a:t>
            </a:r>
            <a:r>
              <a:rPr lang="en-US" b="1" dirty="0" smtClean="0"/>
              <a:t> (framework)</a:t>
            </a:r>
            <a:r>
              <a:rPr b="1" dirty="0" smtClean="0"/>
              <a:t> </a:t>
            </a:r>
            <a:endParaRPr lang="en-US" b="1" dirty="0" smtClean="0"/>
          </a:p>
          <a:p>
            <a:r>
              <a:rPr dirty="0" err="1" smtClean="0"/>
              <a:t>Navbar</a:t>
            </a:r>
            <a:r>
              <a:rPr lang="en-US" dirty="0" smtClean="0"/>
              <a:t>(menu)</a:t>
            </a:r>
          </a:p>
          <a:p>
            <a:r>
              <a:rPr lang="en-US" dirty="0" smtClean="0"/>
              <a:t>Cards (</a:t>
            </a:r>
            <a:r>
              <a:rPr lang="en-US" dirty="0" err="1" smtClean="0"/>
              <a:t>profils</a:t>
            </a:r>
            <a:r>
              <a:rPr lang="en-US" dirty="0" smtClean="0"/>
              <a:t> freelances)</a:t>
            </a:r>
          </a:p>
          <a:p>
            <a:r>
              <a:rPr lang="en-US" dirty="0" smtClean="0"/>
              <a:t>Buttons (actions et </a:t>
            </a:r>
            <a:r>
              <a:rPr lang="en-US" dirty="0" err="1" smtClean="0"/>
              <a:t>filtres</a:t>
            </a:r>
            <a:r>
              <a:rPr lang="en-US" dirty="0" smtClean="0"/>
              <a:t>)</a:t>
            </a:r>
          </a:p>
          <a:p>
            <a:r>
              <a:rPr lang="en-US" dirty="0" smtClean="0"/>
              <a:t>Grid system (layout responsive)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Git</a:t>
            </a:r>
            <a:r>
              <a:rPr dirty="0"/>
              <a:t> &amp;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b="1" u="sng" dirty="0" err="1">
                <a:solidFill>
                  <a:srgbClr val="C00000"/>
                </a:solidFill>
              </a:rPr>
              <a:t>Historique</a:t>
            </a:r>
            <a:r>
              <a:rPr b="1" u="sng" dirty="0">
                <a:solidFill>
                  <a:srgbClr val="C00000"/>
                </a:solidFill>
              </a:rPr>
              <a:t> des commits </a:t>
            </a:r>
            <a:r>
              <a:rPr b="1" u="sng" dirty="0" err="1" smtClean="0">
                <a:solidFill>
                  <a:srgbClr val="C00000"/>
                </a:solidFill>
              </a:rPr>
              <a:t>organisé</a:t>
            </a:r>
            <a:endParaRPr lang="en-US" b="1" u="sng" dirty="0" smtClean="0">
              <a:solidFill>
                <a:srgbClr val="C00000"/>
              </a:solidFill>
            </a:endParaRPr>
          </a:p>
          <a:p>
            <a:r>
              <a:rPr lang="fr-FR" b="1" dirty="0" smtClean="0"/>
              <a:t>Commit 1 </a:t>
            </a:r>
            <a:r>
              <a:rPr lang="fr-FR" b="1" dirty="0"/>
              <a:t>:</a:t>
            </a:r>
            <a:r>
              <a:rPr lang="fr-FR" dirty="0"/>
              <a:t> </a:t>
            </a:r>
            <a:r>
              <a:rPr lang="fr-FR" dirty="0" err="1"/>
              <a:t>Init</a:t>
            </a:r>
            <a:r>
              <a:rPr lang="fr-FR" dirty="0"/>
              <a:t> : création du dépôt, arborescence des fichiers et structure HTML de base </a:t>
            </a:r>
            <a:endParaRPr lang="fr-FR" dirty="0" smtClean="0"/>
          </a:p>
          <a:p>
            <a:r>
              <a:rPr lang="fr-FR" b="1" dirty="0" err="1" smtClean="0"/>
              <a:t>Comiit</a:t>
            </a:r>
            <a:r>
              <a:rPr lang="fr-FR" b="1" dirty="0" smtClean="0"/>
              <a:t> 2 </a:t>
            </a:r>
            <a:r>
              <a:rPr lang="fr-FR" b="1" dirty="0"/>
              <a:t>:</a:t>
            </a:r>
            <a:r>
              <a:rPr lang="fr-FR" dirty="0"/>
              <a:t> HTML : structure complète des 5 pages avec sections et contenu texte </a:t>
            </a:r>
            <a:endParaRPr lang="fr-FR" dirty="0" smtClean="0"/>
          </a:p>
          <a:p>
            <a:r>
              <a:rPr lang="fr-FR" b="1" dirty="0" smtClean="0"/>
              <a:t>Commit 3 </a:t>
            </a:r>
            <a:r>
              <a:rPr lang="fr-FR" b="1" dirty="0"/>
              <a:t>:</a:t>
            </a:r>
            <a:r>
              <a:rPr lang="fr-FR" dirty="0"/>
              <a:t> CSS : variables, typographie, </a:t>
            </a:r>
            <a:r>
              <a:rPr lang="fr-FR" dirty="0" err="1"/>
              <a:t>layout</a:t>
            </a:r>
            <a:r>
              <a:rPr lang="fr-FR" dirty="0"/>
              <a:t> général et styles de base</a:t>
            </a:r>
          </a:p>
          <a:p>
            <a:r>
              <a:rPr lang="fr-FR" b="1" dirty="0" smtClean="0"/>
              <a:t>Commit 4 </a:t>
            </a:r>
            <a:r>
              <a:rPr lang="fr-FR" b="1" dirty="0"/>
              <a:t>:</a:t>
            </a:r>
            <a:r>
              <a:rPr lang="fr-FR" dirty="0"/>
              <a:t> CSS : Bento </a:t>
            </a:r>
            <a:r>
              <a:rPr lang="fr-FR" dirty="0" err="1"/>
              <a:t>Grid</a:t>
            </a:r>
            <a:r>
              <a:rPr lang="fr-FR" dirty="0"/>
              <a:t>, sections </a:t>
            </a:r>
            <a:r>
              <a:rPr lang="fr-FR" dirty="0" err="1"/>
              <a:t>hero</a:t>
            </a:r>
            <a:r>
              <a:rPr lang="fr-FR" dirty="0"/>
              <a:t> et catégories, effets </a:t>
            </a:r>
            <a:r>
              <a:rPr lang="fr-FR" dirty="0" err="1"/>
              <a:t>hover</a:t>
            </a:r>
            <a:r>
              <a:rPr lang="fr-FR" dirty="0"/>
              <a:t> </a:t>
            </a:r>
            <a:endParaRPr lang="fr-FR" dirty="0" smtClean="0"/>
          </a:p>
          <a:p>
            <a:r>
              <a:rPr lang="fr-FR" b="1" dirty="0" smtClean="0"/>
              <a:t>Commit 5 </a:t>
            </a:r>
            <a:r>
              <a:rPr lang="fr-FR" b="1" dirty="0"/>
              <a:t>:</a:t>
            </a:r>
            <a:r>
              <a:rPr lang="fr-FR" dirty="0"/>
              <a:t> CSS : responsive design mobile et tablette, media </a:t>
            </a:r>
            <a:r>
              <a:rPr lang="fr-FR" dirty="0" err="1"/>
              <a:t>queries</a:t>
            </a:r>
            <a:r>
              <a:rPr lang="fr-FR" dirty="0"/>
              <a:t> </a:t>
            </a:r>
            <a:endParaRPr lang="fr-FR" dirty="0" smtClean="0"/>
          </a:p>
          <a:p>
            <a:r>
              <a:rPr lang="fr-FR" b="1" dirty="0" smtClean="0"/>
              <a:t>Commit 6 </a:t>
            </a:r>
            <a:r>
              <a:rPr lang="fr-FR" b="1" dirty="0"/>
              <a:t>:</a:t>
            </a:r>
            <a:r>
              <a:rPr lang="fr-FR" dirty="0"/>
              <a:t> JS : </a:t>
            </a:r>
            <a:r>
              <a:rPr lang="fr-FR" dirty="0" err="1"/>
              <a:t>dark</a:t>
            </a:r>
            <a:r>
              <a:rPr lang="fr-FR" dirty="0"/>
              <a:t> mode avec </a:t>
            </a:r>
            <a:r>
              <a:rPr lang="fr-FR" dirty="0" err="1"/>
              <a:t>localStorage</a:t>
            </a:r>
            <a:r>
              <a:rPr lang="fr-FR" dirty="0"/>
              <a:t>, </a:t>
            </a:r>
            <a:r>
              <a:rPr lang="fr-FR" dirty="0" err="1"/>
              <a:t>navbar</a:t>
            </a:r>
            <a:r>
              <a:rPr lang="fr-FR" dirty="0"/>
              <a:t> dynamique au scroll</a:t>
            </a:r>
          </a:p>
          <a:p>
            <a:r>
              <a:rPr lang="fr-FR" b="1" dirty="0" smtClean="0"/>
              <a:t>Commit 7 </a:t>
            </a:r>
            <a:r>
              <a:rPr lang="fr-FR" b="1" dirty="0"/>
              <a:t>:</a:t>
            </a:r>
            <a:r>
              <a:rPr lang="fr-FR" dirty="0"/>
              <a:t> JS : compteurs animés au scroll et animations fade-in des sections </a:t>
            </a:r>
            <a:endParaRPr lang="fr-FR" dirty="0" smtClean="0"/>
          </a:p>
          <a:p>
            <a:r>
              <a:rPr lang="fr-FR" b="1" dirty="0" smtClean="0"/>
              <a:t>Commit 8 </a:t>
            </a:r>
            <a:r>
              <a:rPr lang="fr-FR" b="1" dirty="0"/>
              <a:t>:</a:t>
            </a:r>
            <a:r>
              <a:rPr lang="fr-FR" dirty="0"/>
              <a:t> JS : filtrage dynamique des freelances et validation du formulaire de contact</a:t>
            </a:r>
          </a:p>
          <a:p>
            <a:r>
              <a:rPr lang="fr-FR" b="1" dirty="0" smtClean="0"/>
              <a:t>Commit 9 </a:t>
            </a:r>
            <a:r>
              <a:rPr lang="fr-FR" b="1" dirty="0"/>
              <a:t>:</a:t>
            </a:r>
            <a:r>
              <a:rPr lang="fr-FR" dirty="0"/>
              <a:t> Finalisation : corrections responsive, optimisation du code et commentaires</a:t>
            </a:r>
          </a:p>
          <a:p>
            <a:r>
              <a:rPr lang="fr-FR" b="1" dirty="0" smtClean="0"/>
              <a:t>Commit 10 </a:t>
            </a:r>
            <a:r>
              <a:rPr lang="fr-FR" b="1" dirty="0"/>
              <a:t>:</a:t>
            </a:r>
            <a:r>
              <a:rPr lang="fr-FR" dirty="0"/>
              <a:t> Déploiement : GitHub Pages activé, README finalisé et présentation PowerPoint </a:t>
            </a:r>
            <a:r>
              <a:rPr lang="fr-FR" dirty="0" smtClean="0"/>
              <a:t>ajoutée</a:t>
            </a:r>
            <a:endParaRPr dirty="0"/>
          </a:p>
          <a:p>
            <a:r>
              <a:rPr b="1" u="sng" dirty="0" smtClean="0">
                <a:solidFill>
                  <a:srgbClr val="C00000"/>
                </a:solidFill>
              </a:rPr>
              <a:t>Workflow </a:t>
            </a:r>
            <a:r>
              <a:rPr b="1" u="sng" dirty="0" err="1">
                <a:solidFill>
                  <a:srgbClr val="C00000"/>
                </a:solidFill>
              </a:rPr>
              <a:t>Git</a:t>
            </a:r>
            <a:r>
              <a:rPr b="1" u="sng" dirty="0">
                <a:solidFill>
                  <a:srgbClr val="C00000"/>
                </a:solidFill>
              </a:rPr>
              <a:t> </a:t>
            </a:r>
            <a:r>
              <a:rPr b="1" u="sng" dirty="0" err="1" smtClean="0">
                <a:solidFill>
                  <a:srgbClr val="C00000"/>
                </a:solidFill>
              </a:rPr>
              <a:t>structuré</a:t>
            </a:r>
            <a:endParaRPr lang="en-US" b="1" u="sng" dirty="0" smtClean="0">
              <a:solidFill>
                <a:srgbClr val="C00000"/>
              </a:solidFill>
            </a:endParaRPr>
          </a:p>
          <a:p>
            <a:r>
              <a:rPr lang="en-US" dirty="0" err="1" smtClean="0">
                <a:solidFill>
                  <a:srgbClr val="FFC000"/>
                </a:solidFill>
              </a:rPr>
              <a:t>Git</a:t>
            </a:r>
            <a:r>
              <a:rPr lang="en-US" dirty="0" smtClean="0"/>
              <a:t> </a:t>
            </a:r>
            <a:r>
              <a:rPr lang="en-US" dirty="0" err="1" smtClean="0"/>
              <a:t>init</a:t>
            </a:r>
            <a:r>
              <a:rPr lang="en-US" dirty="0" smtClean="0"/>
              <a:t> : initialization du </a:t>
            </a:r>
            <a:r>
              <a:rPr lang="en-US" dirty="0" err="1" smtClean="0"/>
              <a:t>projet</a:t>
            </a:r>
            <a:endParaRPr lang="en-US" dirty="0" smtClean="0"/>
          </a:p>
          <a:p>
            <a:r>
              <a:rPr lang="en-US" dirty="0" err="1" smtClean="0">
                <a:solidFill>
                  <a:srgbClr val="FFC000"/>
                </a:solidFill>
              </a:rPr>
              <a:t>Git</a:t>
            </a:r>
            <a:r>
              <a:rPr lang="en-US" dirty="0" smtClean="0"/>
              <a:t> add . : </a:t>
            </a:r>
            <a:r>
              <a:rPr lang="en-US" dirty="0" err="1" smtClean="0"/>
              <a:t>ajout</a:t>
            </a:r>
            <a:r>
              <a:rPr lang="en-US" dirty="0" smtClean="0"/>
              <a:t> des modifications</a:t>
            </a:r>
          </a:p>
          <a:p>
            <a:r>
              <a:rPr lang="en-US" dirty="0" err="1" smtClean="0">
                <a:solidFill>
                  <a:srgbClr val="FFC000"/>
                </a:solidFill>
              </a:rPr>
              <a:t>Git</a:t>
            </a:r>
            <a:r>
              <a:rPr lang="en-US" dirty="0" smtClean="0">
                <a:solidFill>
                  <a:srgbClr val="FFFF00"/>
                </a:solidFill>
              </a:rPr>
              <a:t> </a:t>
            </a:r>
            <a:r>
              <a:rPr lang="en-US" dirty="0" smtClean="0"/>
              <a:t>commit –m “message” : </a:t>
            </a:r>
            <a:r>
              <a:rPr lang="en-US" dirty="0" err="1" smtClean="0"/>
              <a:t>sauvegarde</a:t>
            </a:r>
            <a:r>
              <a:rPr lang="en-US" dirty="0" smtClean="0"/>
              <a:t> des </a:t>
            </a:r>
            <a:r>
              <a:rPr lang="en-US" dirty="0" err="1" smtClean="0"/>
              <a:t>etapes</a:t>
            </a:r>
            <a:endParaRPr lang="en-US" dirty="0" smtClean="0"/>
          </a:p>
          <a:p>
            <a:r>
              <a:rPr lang="en-US" dirty="0" err="1" smtClean="0">
                <a:solidFill>
                  <a:srgbClr val="FFC000"/>
                </a:solidFill>
              </a:rPr>
              <a:t>Git</a:t>
            </a:r>
            <a:r>
              <a:rPr lang="en-US" dirty="0" smtClean="0"/>
              <a:t> push : envoi sur </a:t>
            </a:r>
            <a:r>
              <a:rPr lang="en-US" dirty="0" err="1" smtClean="0"/>
              <a:t>Github</a:t>
            </a:r>
            <a:endParaRPr dirty="0"/>
          </a:p>
          <a:p>
            <a:r>
              <a:rPr b="1" u="sng" dirty="0" err="1">
                <a:solidFill>
                  <a:srgbClr val="C00000"/>
                </a:solidFill>
              </a:rPr>
              <a:t>Déploiement</a:t>
            </a:r>
            <a:r>
              <a:rPr b="1" u="sng" dirty="0">
                <a:solidFill>
                  <a:srgbClr val="C00000"/>
                </a:solidFill>
              </a:rPr>
              <a:t> du site </a:t>
            </a:r>
            <a:r>
              <a:rPr b="1" u="sng" dirty="0" err="1">
                <a:solidFill>
                  <a:srgbClr val="C00000"/>
                </a:solidFill>
              </a:rPr>
              <a:t>en</a:t>
            </a:r>
            <a:r>
              <a:rPr b="1" u="sng" dirty="0">
                <a:solidFill>
                  <a:srgbClr val="C00000"/>
                </a:solidFill>
              </a:rPr>
              <a:t> </a:t>
            </a:r>
            <a:r>
              <a:rPr b="1" u="sng" dirty="0" err="1" smtClean="0">
                <a:solidFill>
                  <a:srgbClr val="C00000"/>
                </a:solidFill>
              </a:rPr>
              <a:t>ligne</a:t>
            </a:r>
            <a:r>
              <a:rPr lang="en-US" b="1" u="sng" dirty="0" smtClean="0">
                <a:solidFill>
                  <a:srgbClr val="C00000"/>
                </a:solidFill>
              </a:rPr>
              <a:t>:</a:t>
            </a:r>
          </a:p>
          <a:p>
            <a:r>
              <a:rPr lang="fr-FR" b="1" u="sng" dirty="0">
                <a:solidFill>
                  <a:srgbClr val="FF0000"/>
                </a:solidFill>
              </a:rPr>
              <a:t>https</a:t>
            </a:r>
            <a:r>
              <a:rPr lang="fr-FR" b="1" u="sng">
                <a:solidFill>
                  <a:srgbClr val="FF0000"/>
                </a:solidFill>
              </a:rPr>
              <a:t>://</a:t>
            </a:r>
            <a:r>
              <a:rPr lang="fr-FR" b="1" u="sng" smtClean="0">
                <a:solidFill>
                  <a:srgbClr val="FF0000"/>
                </a:solidFill>
              </a:rPr>
              <a:t>sophiesticated221.github.io/TIMERA-OUMOULKHAIRI-AfriTalent/</a:t>
            </a:r>
            <a:endParaRPr b="1" u="sng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Difficultés rencontrées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 smtClean="0"/>
              <a:t>1. </a:t>
            </a:r>
            <a:r>
              <a:rPr lang="en-US" b="1" dirty="0" smtClean="0"/>
              <a:t>Flash </a:t>
            </a:r>
            <a:r>
              <a:rPr lang="en-US" b="1" dirty="0" err="1" smtClean="0"/>
              <a:t>en</a:t>
            </a:r>
            <a:r>
              <a:rPr lang="en-US" b="1" dirty="0" smtClean="0"/>
              <a:t> mode somber </a:t>
            </a:r>
            <a:r>
              <a:rPr lang="en-US" b="1" dirty="0" err="1" smtClean="0"/>
              <a:t>lors</a:t>
            </a:r>
            <a:r>
              <a:rPr lang="en-US" b="1" dirty="0" smtClean="0"/>
              <a:t> du </a:t>
            </a:r>
            <a:r>
              <a:rPr lang="en-US" b="1" dirty="0" err="1" smtClean="0"/>
              <a:t>changement</a:t>
            </a:r>
            <a:r>
              <a:rPr lang="en-US" b="1" dirty="0" smtClean="0"/>
              <a:t> de page</a:t>
            </a:r>
          </a:p>
          <a:p>
            <a:r>
              <a:rPr lang="en-US" b="1" dirty="0" smtClean="0"/>
              <a:t>Solution</a:t>
            </a:r>
            <a:r>
              <a:rPr lang="en-US" dirty="0" smtClean="0"/>
              <a:t>: </a:t>
            </a:r>
            <a:r>
              <a:rPr lang="en-US" dirty="0" err="1" smtClean="0"/>
              <a:t>ajout</a:t>
            </a:r>
            <a:r>
              <a:rPr lang="en-US" dirty="0" smtClean="0"/>
              <a:t> d’un script </a:t>
            </a:r>
            <a:r>
              <a:rPr lang="en-US" dirty="0" err="1" smtClean="0"/>
              <a:t>dans</a:t>
            </a:r>
            <a:r>
              <a:rPr lang="en-US" dirty="0" smtClean="0"/>
              <a:t> le &lt;head&gt; pour </a:t>
            </a:r>
            <a:r>
              <a:rPr lang="en-US" dirty="0" err="1" smtClean="0"/>
              <a:t>appliquernle</a:t>
            </a:r>
            <a:r>
              <a:rPr lang="en-US" dirty="0" smtClean="0"/>
              <a:t> </a:t>
            </a:r>
            <a:r>
              <a:rPr lang="en-US" dirty="0" err="1" smtClean="0"/>
              <a:t>th</a:t>
            </a:r>
            <a:r>
              <a:rPr lang="fr-FR" dirty="0" smtClean="0"/>
              <a:t>e</a:t>
            </a:r>
            <a:r>
              <a:rPr lang="en-US" dirty="0" smtClean="0"/>
              <a:t>me d</a:t>
            </a:r>
            <a:r>
              <a:rPr lang="fr-FR" dirty="0" smtClean="0"/>
              <a:t>è</a:t>
            </a:r>
            <a:r>
              <a:rPr lang="en-US" dirty="0" smtClean="0"/>
              <a:t>s le </a:t>
            </a:r>
            <a:r>
              <a:rPr lang="en-US" dirty="0" err="1" smtClean="0"/>
              <a:t>chargement</a:t>
            </a:r>
            <a:r>
              <a:rPr lang="en-US" dirty="0" smtClean="0"/>
              <a:t> de la page (</a:t>
            </a:r>
            <a:r>
              <a:rPr lang="en-US" dirty="0" err="1" smtClean="0"/>
              <a:t>avant</a:t>
            </a:r>
            <a:r>
              <a:rPr lang="en-US" dirty="0" smtClean="0"/>
              <a:t> </a:t>
            </a:r>
            <a:r>
              <a:rPr lang="en-US" dirty="0" err="1" smtClean="0"/>
              <a:t>l’affichage</a:t>
            </a:r>
            <a:r>
              <a:rPr lang="en-US" dirty="0" smtClean="0"/>
              <a:t> du </a:t>
            </a:r>
            <a:r>
              <a:rPr lang="en-US" dirty="0" err="1" smtClean="0"/>
              <a:t>contenu</a:t>
            </a:r>
            <a:r>
              <a:rPr lang="en-US" dirty="0" smtClean="0"/>
              <a:t>), </a:t>
            </a:r>
            <a:r>
              <a:rPr lang="en-US" dirty="0" err="1" smtClean="0"/>
              <a:t>ce</a:t>
            </a:r>
            <a:r>
              <a:rPr lang="en-US" dirty="0" smtClean="0"/>
              <a:t> qui a </a:t>
            </a:r>
            <a:r>
              <a:rPr lang="en-US" dirty="0" err="1" smtClean="0"/>
              <a:t>supprim</a:t>
            </a:r>
            <a:r>
              <a:rPr lang="fr-FR" dirty="0" smtClean="0"/>
              <a:t>é</a:t>
            </a:r>
            <a:r>
              <a:rPr lang="en-US" dirty="0" smtClean="0"/>
              <a:t> le flash </a:t>
            </a:r>
          </a:p>
          <a:p>
            <a:r>
              <a:rPr dirty="0" smtClean="0"/>
              <a:t>2</a:t>
            </a:r>
            <a:r>
              <a:rPr dirty="0"/>
              <a:t>. </a:t>
            </a:r>
            <a:r>
              <a:rPr lang="en-US" b="1" dirty="0" err="1" smtClean="0"/>
              <a:t>Pobl</a:t>
            </a:r>
            <a:r>
              <a:rPr lang="fr-FR" b="1" dirty="0" smtClean="0"/>
              <a:t>è</a:t>
            </a:r>
            <a:r>
              <a:rPr lang="en-US" b="1" dirty="0" smtClean="0"/>
              <a:t>me de d</a:t>
            </a:r>
            <a:r>
              <a:rPr lang="fr-FR" b="1" dirty="0" smtClean="0"/>
              <a:t>é</a:t>
            </a:r>
            <a:r>
              <a:rPr lang="en-US" b="1" dirty="0" err="1" smtClean="0"/>
              <a:t>bordements</a:t>
            </a:r>
            <a:r>
              <a:rPr lang="en-US" b="1" dirty="0" smtClean="0"/>
              <a:t> des </a:t>
            </a:r>
            <a:r>
              <a:rPr lang="fr-FR" b="1" dirty="0" smtClean="0"/>
              <a:t>é</a:t>
            </a:r>
            <a:r>
              <a:rPr lang="en-US" b="1" dirty="0" err="1" smtClean="0"/>
              <a:t>léments</a:t>
            </a:r>
            <a:endParaRPr lang="en-US" b="1" dirty="0" smtClean="0"/>
          </a:p>
          <a:p>
            <a:r>
              <a:rPr lang="en-US" b="1" dirty="0" smtClean="0"/>
              <a:t>Solution: </a:t>
            </a:r>
            <a:r>
              <a:rPr lang="en-US" dirty="0" smtClean="0"/>
              <a:t>correction du CSS et utilization de Bootstrap (</a:t>
            </a:r>
            <a:r>
              <a:rPr lang="en-US" dirty="0" err="1" smtClean="0"/>
              <a:t>gestion</a:t>
            </a:r>
            <a:r>
              <a:rPr lang="en-US" dirty="0" smtClean="0"/>
              <a:t> du responsive, flexbox et </a:t>
            </a:r>
            <a:r>
              <a:rPr lang="en-US" dirty="0" err="1" smtClean="0"/>
              <a:t>ajustement</a:t>
            </a:r>
            <a:r>
              <a:rPr lang="en-US" dirty="0" smtClean="0"/>
              <a:t> des </a:t>
            </a:r>
            <a:r>
              <a:rPr lang="en-US" dirty="0" err="1" smtClean="0"/>
              <a:t>largeurs</a:t>
            </a:r>
            <a:r>
              <a:rPr lang="en-US" dirty="0" smtClean="0"/>
              <a:t>)</a:t>
            </a:r>
          </a:p>
          <a:p>
            <a:r>
              <a:rPr dirty="0" smtClean="0"/>
              <a:t>3</a:t>
            </a:r>
            <a:r>
              <a:rPr dirty="0"/>
              <a:t>. </a:t>
            </a:r>
            <a:r>
              <a:rPr lang="en-US" b="1" dirty="0" smtClean="0"/>
              <a:t>Page freelance qui ne </a:t>
            </a:r>
            <a:r>
              <a:rPr lang="en-US" b="1" dirty="0" err="1" smtClean="0"/>
              <a:t>s’affiche</a:t>
            </a:r>
            <a:r>
              <a:rPr lang="en-US" b="1" dirty="0" smtClean="0"/>
              <a:t> pas </a:t>
            </a:r>
            <a:r>
              <a:rPr lang="en-US" b="1" dirty="0" err="1" smtClean="0"/>
              <a:t>correctement</a:t>
            </a:r>
            <a:endParaRPr lang="en-US" b="1" dirty="0" smtClean="0"/>
          </a:p>
          <a:p>
            <a:r>
              <a:rPr lang="en-US" b="1" dirty="0" smtClean="0"/>
              <a:t>Solution</a:t>
            </a:r>
            <a:r>
              <a:rPr lang="en-US" dirty="0" smtClean="0"/>
              <a:t>: suppression </a:t>
            </a:r>
            <a:r>
              <a:rPr lang="en-US" dirty="0" err="1" smtClean="0"/>
              <a:t>d’une</a:t>
            </a:r>
            <a:r>
              <a:rPr lang="en-US" dirty="0" smtClean="0"/>
              <a:t> </a:t>
            </a:r>
            <a:r>
              <a:rPr lang="en-US" dirty="0" err="1" smtClean="0"/>
              <a:t>propri</a:t>
            </a:r>
            <a:r>
              <a:rPr lang="fr-FR" dirty="0" smtClean="0"/>
              <a:t>été</a:t>
            </a:r>
            <a:r>
              <a:rPr lang="en-US" dirty="0"/>
              <a:t> </a:t>
            </a:r>
            <a:r>
              <a:rPr lang="en-US" dirty="0" smtClean="0"/>
              <a:t>CSS (opacity)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Ressources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Bootstrap</a:t>
            </a:r>
          </a:p>
          <a:p>
            <a:r>
              <a:rPr lang="en-US" dirty="0" smtClean="0"/>
              <a:t>W3C Validator</a:t>
            </a:r>
            <a:endParaRPr dirty="0"/>
          </a:p>
          <a:p>
            <a:r>
              <a:rPr dirty="0" err="1" smtClean="0"/>
              <a:t>Unsplash</a:t>
            </a:r>
            <a:endParaRPr dirty="0"/>
          </a:p>
          <a:p>
            <a:r>
              <a:rPr dirty="0"/>
              <a:t>Bootstrap Icons</a:t>
            </a:r>
          </a:p>
          <a:p>
            <a:r>
              <a:rPr dirty="0"/>
              <a:t>Google Fonts</a:t>
            </a:r>
          </a:p>
          <a:p>
            <a:r>
              <a:rPr lang="en-US" dirty="0" smtClean="0"/>
              <a:t>Google image</a:t>
            </a:r>
            <a:endParaRPr dirty="0"/>
          </a:p>
          <a:p>
            <a:r>
              <a:rPr dirty="0"/>
              <a:t>GitHub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Démonstration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Présentation en direct du site AfriTalent.</a:t>
            </a:r>
          </a:p>
          <a:p>
            <a:r>
              <a:t>Navigation entre les pages.</a:t>
            </a:r>
          </a:p>
          <a:p>
            <a:r>
              <a:t>Activation du dark mode.</a:t>
            </a:r>
          </a:p>
          <a:p>
            <a:r>
              <a:t>Affichage responsive mobile.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Projet permettant de renforcer les compétences en développement front-end.</a:t>
            </a:r>
          </a:p>
          <a:p>
            <a:r>
              <a:t>Maîtrise du responsive design, du JavaScript et de GitHub.</a:t>
            </a:r>
          </a:p>
          <a:p>
            <a:r>
              <a:t>Expérience enrichissante en conception UI/UX.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Perspectives </a:t>
            </a:r>
            <a:r>
              <a:rPr dirty="0" err="1"/>
              <a:t>d'amélioration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Ajout</a:t>
            </a:r>
            <a:r>
              <a:rPr dirty="0"/>
              <a:t> d’un backend</a:t>
            </a:r>
          </a:p>
          <a:p>
            <a:r>
              <a:rPr dirty="0" err="1"/>
              <a:t>Authentification</a:t>
            </a:r>
            <a:r>
              <a:rPr dirty="0"/>
              <a:t> </a:t>
            </a:r>
            <a:r>
              <a:rPr dirty="0" err="1"/>
              <a:t>utilisateurs</a:t>
            </a:r>
            <a:endParaRPr dirty="0"/>
          </a:p>
          <a:p>
            <a:r>
              <a:rPr dirty="0" err="1"/>
              <a:t>Système</a:t>
            </a:r>
            <a:r>
              <a:rPr dirty="0"/>
              <a:t> de </a:t>
            </a:r>
            <a:r>
              <a:rPr dirty="0" err="1"/>
              <a:t>messagerie</a:t>
            </a:r>
            <a:endParaRPr dirty="0"/>
          </a:p>
          <a:p>
            <a:r>
              <a:rPr dirty="0"/>
              <a:t>Base de </a:t>
            </a:r>
            <a:r>
              <a:rPr dirty="0" err="1"/>
              <a:t>données</a:t>
            </a:r>
            <a:endParaRPr dirty="0"/>
          </a:p>
          <a:p>
            <a:r>
              <a:rPr dirty="0" err="1"/>
              <a:t>Recherche</a:t>
            </a:r>
            <a:r>
              <a:rPr dirty="0"/>
              <a:t> </a:t>
            </a:r>
            <a:r>
              <a:rPr dirty="0" err="1"/>
              <a:t>avancée</a:t>
            </a:r>
            <a:endParaRPr dirty="0"/>
          </a:p>
          <a:p>
            <a:r>
              <a:rPr dirty="0" err="1"/>
              <a:t>Paiement</a:t>
            </a:r>
            <a:r>
              <a:rPr dirty="0"/>
              <a:t> </a:t>
            </a:r>
            <a:r>
              <a:rPr dirty="0" err="1"/>
              <a:t>sécurisé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731</Words>
  <Application>Microsoft Office PowerPoint</Application>
  <PresentationFormat>Affichage à l'écran (4:3)</PresentationFormat>
  <Paragraphs>127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Page de titre</vt:lpstr>
      <vt:lpstr>Sommaire</vt:lpstr>
      <vt:lpstr>Présentation du projet</vt:lpstr>
      <vt:lpstr>Palette &amp; identité visuelle</vt:lpstr>
      <vt:lpstr>Typographie &amp; inspirations</vt:lpstr>
      <vt:lpstr>Architecture du projet</vt:lpstr>
      <vt:lpstr>Pages du site</vt:lpstr>
      <vt:lpstr>Fonctionnalités JavaScript</vt:lpstr>
      <vt:lpstr>CSS &amp; Bootstrap</vt:lpstr>
      <vt:lpstr>Git &amp; GitHub</vt:lpstr>
      <vt:lpstr>Difficultés rencontrées</vt:lpstr>
      <vt:lpstr>Ressources utilisées</vt:lpstr>
      <vt:lpstr>Démonstration live</vt:lpstr>
      <vt:lpstr>Conclusion</vt:lpstr>
      <vt:lpstr>Perspectives d'amélioration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Page de titre</dc:title>
  <dc:subject/>
  <dc:creator/>
  <cp:keywords/>
  <dc:description>generated using python-pptx</dc:description>
  <cp:lastModifiedBy>PC</cp:lastModifiedBy>
  <cp:revision>14</cp:revision>
  <dcterms:created xsi:type="dcterms:W3CDTF">2013-01-27T09:14:16Z</dcterms:created>
  <dcterms:modified xsi:type="dcterms:W3CDTF">2026-05-31T18:49:07Z</dcterms:modified>
  <cp:category/>
</cp:coreProperties>
</file>