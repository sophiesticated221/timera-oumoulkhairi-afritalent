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F2F9"/>
    <a:srgbClr val="6792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6" d="100"/>
          <a:sy n="56" d="100"/>
        </p:scale>
        <p:origin x="1508" y="40"/>
      </p:cViewPr>
      <p:guideLst>
        <p:guide orient="horz" pos="2160"/>
        <p:guide pos="28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1409700" y="393700"/>
            <a:ext cx="2324100" cy="73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1562100" y="571500"/>
            <a:ext cx="5054600" cy="73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1562100" y="571500"/>
            <a:ext cx="5054600" cy="736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2997200" y="691059"/>
            <a:ext cx="24765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 smtClean="0">
                <a:solidFill>
                  <a:schemeClr val="tx2">
                    <a:lumMod val="75000"/>
                  </a:schemeClr>
                </a:solidFill>
              </a:rPr>
              <a:t>AfriTalent</a:t>
            </a:r>
            <a:endParaRPr lang="fr-FR" sz="4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1206500" y="2299846"/>
            <a:ext cx="7010400" cy="95410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Plateforme </a:t>
            </a:r>
            <a:r>
              <a:rPr lang="fr-FR" sz="28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de mise en relation entre freelances africains </a:t>
            </a:r>
            <a:r>
              <a:rPr lang="fr-FR" sz="28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et entreprises</a:t>
            </a:r>
            <a:endParaRPr lang="fr-FR" sz="28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428875" y="4274998"/>
            <a:ext cx="3181350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 err="1"/>
              <a:t>Oumoul</a:t>
            </a:r>
            <a:r>
              <a:rPr lang="fr-FR" sz="2400" b="1" dirty="0"/>
              <a:t> </a:t>
            </a:r>
            <a:r>
              <a:rPr lang="fr-FR" sz="2400" b="1" dirty="0" err="1"/>
              <a:t>Khairi</a:t>
            </a:r>
            <a:r>
              <a:rPr lang="fr-FR" sz="2400" b="1" dirty="0"/>
              <a:t> </a:t>
            </a:r>
            <a:r>
              <a:rPr lang="fr-FR" sz="2400" b="1" dirty="0" err="1"/>
              <a:t>Timéra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b="1" dirty="0"/>
              <a:t>ISI — L1 </a:t>
            </a:r>
            <a:r>
              <a:rPr lang="fr-FR" sz="2400" b="1" dirty="0" err="1"/>
              <a:t>Cybersécurité</a:t>
            </a:r>
            <a:r>
              <a:rPr lang="fr-FR" sz="2400" dirty="0"/>
              <a:t/>
            </a:r>
            <a:br>
              <a:rPr lang="fr-FR" sz="2400" dirty="0"/>
            </a:br>
            <a:r>
              <a:rPr lang="fr-FR" sz="2400" b="1" dirty="0"/>
              <a:t>31-05-2026</a:t>
            </a:r>
            <a:endParaRPr lang="fr-FR" sz="24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825500"/>
            <a:ext cx="2908300" cy="566738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Sommaire</a:t>
            </a:r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457700" cy="4525963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Présentation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du 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projet</a:t>
            </a:r>
            <a:endParaRPr dirty="0" smtClean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Design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&amp; inspirations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Architecture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 site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Aspects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techniques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GitHub </a:t>
            </a:r>
            <a:r>
              <a:rPr dirty="0">
                <a:solidFill>
                  <a:schemeClr val="tx1">
                    <a:lumMod val="65000"/>
                    <a:lumOff val="35000"/>
                  </a:schemeClr>
                </a:solidFill>
              </a:rPr>
              <a:t>&amp; workflow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Difficultés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rencontrées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Ressources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utilisées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</a:t>
            </a:r>
            <a:r>
              <a:rPr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Conclusion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" y="230981"/>
            <a:ext cx="5143500" cy="681038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Présentation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du </a:t>
            </a:r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projet</a:t>
            </a:r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3810001"/>
            <a:ext cx="4191000" cy="2679699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Public cible</a:t>
            </a:r>
          </a:p>
          <a:p>
            <a:pPr marL="0" indent="0">
              <a:buNone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Freelances </a:t>
            </a:r>
            <a:r>
              <a:rPr lang="fr-FR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tech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startups et entreprises digitales.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0500" y="3810002"/>
            <a:ext cx="4381500" cy="2679700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b="1" dirty="0">
                <a:solidFill>
                  <a:schemeClr val="tx2">
                    <a:lumMod val="75000"/>
                  </a:schemeClr>
                </a:solidFill>
              </a:rPr>
              <a:t>Objectif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Création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d'une plateforme moderne reliant freelances africains et entreprises.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14600" y="1104903"/>
            <a:ext cx="4381500" cy="2679700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500" b="1" dirty="0" smtClean="0">
                <a:solidFill>
                  <a:schemeClr val="tx2">
                    <a:lumMod val="75000"/>
                  </a:schemeClr>
                </a:solidFill>
              </a:rPr>
              <a:t>Contexte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Projet 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académique visant à démontrer la maîtrise du HTML, CSS, JavaScript, Bootstrap et </a:t>
            </a: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GitHub.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15954"/>
            <a:ext cx="5829300" cy="615954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Palette &amp; </a:t>
            </a:r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identité</a:t>
            </a:r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b="1" dirty="0" err="1">
                <a:solidFill>
                  <a:schemeClr val="tx2">
                    <a:lumMod val="75000"/>
                  </a:schemeClr>
                </a:solidFill>
              </a:rPr>
              <a:t>visuelle</a:t>
            </a:r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3600" y="1608139"/>
            <a:ext cx="4343400" cy="2895600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J’ai choisi une palette basée sur des tons de bleu afin de transmettre une image professionnelle, moderne et technologique.</a:t>
            </a:r>
            <a:b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Le bleu nuit apporte du sérieux et de l’élégance tandis que le bleu clair permet de dynamiser </a:t>
            </a: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l’interface.</a:t>
            </a: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/>
            </a:r>
            <a:b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L’objectif était de créer une plateforme sobre, lisible et agréable </a:t>
            </a: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lors de la visite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608139"/>
            <a:ext cx="4343400" cy="2895600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dirty="0" smtClean="0">
                <a:solidFill>
                  <a:schemeClr val="tx2">
                    <a:lumMod val="75000"/>
                  </a:schemeClr>
                </a:solidFill>
              </a:rPr>
              <a:t>Palette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Bleu nuit : #002244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Bleu clair : #06b6d4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Fond clair : #f8fafc</a:t>
            </a:r>
          </a:p>
          <a:p>
            <a:pPr marL="0" indent="0">
              <a:buNone/>
            </a:pPr>
            <a:r>
              <a:rPr lang="fr-FR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Fond sombre : #020617</a:t>
            </a:r>
            <a:endParaRPr lang="fr-FR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73100" y="452438"/>
            <a:ext cx="8229600" cy="1143000"/>
          </a:xfrm>
        </p:spPr>
        <p:txBody>
          <a:bodyPr/>
          <a:lstStyle/>
          <a:p>
            <a:r>
              <a:rPr b="1" dirty="0" err="1">
                <a:solidFill>
                  <a:srgbClr val="002060"/>
                </a:solidFill>
              </a:rPr>
              <a:t>Typographie</a:t>
            </a:r>
            <a:r>
              <a:rPr b="1" dirty="0">
                <a:solidFill>
                  <a:srgbClr val="002060"/>
                </a:solidFill>
              </a:rPr>
              <a:t> &amp; inspirations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38700" y="2197100"/>
            <a:ext cx="4216400" cy="2544766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 smtClean="0">
                <a:solidFill>
                  <a:schemeClr val="tx2">
                    <a:lumMod val="75000"/>
                  </a:schemeClr>
                </a:solidFill>
              </a:rPr>
              <a:t>Police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s</a:t>
            </a:r>
          </a:p>
          <a:p>
            <a:pPr marL="0" indent="0">
              <a:buNone/>
            </a:pPr>
            <a:r>
              <a:rPr lang="en-US" dirty="0" err="1" smtClean="0"/>
              <a:t>T</a:t>
            </a:r>
            <a:r>
              <a:rPr dirty="0" err="1" smtClean="0"/>
              <a:t>itres</a:t>
            </a:r>
            <a:r>
              <a:rPr dirty="0" smtClean="0"/>
              <a:t> </a:t>
            </a:r>
            <a:r>
              <a:rPr dirty="0"/>
              <a:t>: </a:t>
            </a:r>
            <a:r>
              <a:rPr b="1" dirty="0">
                <a:solidFill>
                  <a:srgbClr val="002060"/>
                </a:solidFill>
              </a:rPr>
              <a:t>Poppins</a:t>
            </a:r>
          </a:p>
          <a:p>
            <a:pPr marL="0" indent="0">
              <a:buNone/>
            </a:pPr>
            <a:r>
              <a:rPr lang="en-US" dirty="0" err="1"/>
              <a:t>T</a:t>
            </a:r>
            <a:r>
              <a:rPr dirty="0" err="1" smtClean="0"/>
              <a:t>exte</a:t>
            </a:r>
            <a:r>
              <a:rPr dirty="0" smtClean="0"/>
              <a:t> </a:t>
            </a:r>
            <a:r>
              <a:rPr dirty="0"/>
              <a:t>: </a:t>
            </a:r>
            <a:r>
              <a:rPr b="1" dirty="0" smtClean="0">
                <a:solidFill>
                  <a:srgbClr val="002060"/>
                </a:solidFill>
              </a:rPr>
              <a:t>Inter</a:t>
            </a:r>
            <a:endParaRPr lang="en-US" b="1" dirty="0" smtClean="0">
              <a:solidFill>
                <a:srgbClr val="002060"/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77800" y="2197100"/>
            <a:ext cx="4394200" cy="3746500"/>
          </a:xfrm>
          <a:prstGeom prst="rect">
            <a:avLst/>
          </a:prstGeom>
          <a:solidFill>
            <a:srgbClr val="EDF2F9"/>
          </a:solidFill>
          <a:ln>
            <a:noFill/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4400" b="1" dirty="0"/>
              <a:t>Inspirations </a:t>
            </a:r>
            <a:r>
              <a:rPr lang="fr-FR" dirty="0"/>
              <a:t>: </a:t>
            </a:r>
            <a:r>
              <a:rPr lang="fr-FR" sz="3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CyberWarGame</a:t>
            </a:r>
            <a: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et plateformes freelances modernes </a:t>
            </a:r>
            <a:r>
              <a:rPr lang="fr-FR" sz="3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telles </a:t>
            </a:r>
            <a: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que IWORKS</a:t>
            </a:r>
          </a:p>
          <a:p>
            <a:pPr marL="0" indent="0">
              <a:buNone/>
            </a:pPr>
            <a:r>
              <a:rPr lang="fr-FR" sz="4400" b="1" dirty="0" smtClean="0"/>
              <a:t>Objectif </a:t>
            </a:r>
            <a:r>
              <a:rPr lang="fr-FR" dirty="0"/>
              <a:t>: </a:t>
            </a:r>
            <a: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lisibilité et hiérarchie visuelle claire. La police </a:t>
            </a:r>
            <a:r>
              <a:rPr lang="fr-FR" sz="3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Poppins</a:t>
            </a:r>
            <a: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a été choisie pour son style moderne et impactant, idéal pour mettre les titres en valeur.</a:t>
            </a:r>
            <a:b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fr-FR" sz="3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 police Inter offre une excellente lisibilité pour les paragraphes et améliore le confort de lecture sur tous les écrans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100" y="258762"/>
            <a:ext cx="5346700" cy="57943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2060"/>
                </a:solidFill>
              </a:rPr>
              <a:t>Architecture du </a:t>
            </a:r>
            <a:r>
              <a:rPr b="1" dirty="0" err="1">
                <a:solidFill>
                  <a:srgbClr val="002060"/>
                </a:solidFill>
              </a:rPr>
              <a:t>projet</a:t>
            </a:r>
            <a:endParaRPr b="1" dirty="0">
              <a:solidFill>
                <a:srgbClr val="002060"/>
              </a:solidFill>
            </a:endParaRP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1436" y="1356518"/>
            <a:ext cx="3770964" cy="3556000"/>
          </a:xfrm>
        </p:spPr>
      </p:pic>
      <p:sp>
        <p:nvSpPr>
          <p:cNvPr id="4" name="Content Placeholder 2"/>
          <p:cNvSpPr txBox="1">
            <a:spLocks/>
          </p:cNvSpPr>
          <p:nvPr/>
        </p:nvSpPr>
        <p:spPr>
          <a:xfrm>
            <a:off x="89836" y="1564878"/>
            <a:ext cx="4876800" cy="313928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dirty="0"/>
              <a:t>Structure organisée en HTML / CSS / JS.</a:t>
            </a:r>
          </a:p>
          <a:p>
            <a:pPr marL="0" indent="0">
              <a:buNone/>
            </a:pPr>
            <a:r>
              <a:rPr lang="fr-FR" sz="2800" dirty="0"/>
              <a:t>Séparation des ressources et logique modulaire.</a:t>
            </a:r>
          </a:p>
          <a:p>
            <a:pPr marL="0" indent="0">
              <a:buNone/>
            </a:pPr>
            <a:r>
              <a:rPr lang="fr-FR" sz="2800" dirty="0"/>
              <a:t>Pages principales : accueil, freelances, tarifs, contact, about.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901" y="-8730"/>
            <a:ext cx="3695700" cy="804009"/>
          </a:xfrm>
        </p:spPr>
        <p:txBody>
          <a:bodyPr/>
          <a:lstStyle/>
          <a:p>
            <a:r>
              <a:rPr b="1" dirty="0">
                <a:solidFill>
                  <a:schemeClr val="tx2">
                    <a:lumMod val="75000"/>
                  </a:schemeClr>
                </a:solidFill>
              </a:rPr>
              <a:t>Pages du 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568053"/>
            <a:ext cx="1543050" cy="6945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b="1" dirty="0" err="1" smtClean="0">
                <a:solidFill>
                  <a:srgbClr val="002060"/>
                </a:solidFill>
              </a:rPr>
              <a:t>Accueil</a:t>
            </a:r>
            <a:r>
              <a:rPr lang="en-US" dirty="0" smtClean="0"/>
              <a:t> 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939740"/>
            <a:ext cx="3132184" cy="1511360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1" y="939740"/>
            <a:ext cx="3225799" cy="151136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0" y="2690811"/>
            <a:ext cx="3132184" cy="1728789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1" y="2819400"/>
            <a:ext cx="3225799" cy="1600200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7901" y="4602161"/>
            <a:ext cx="3132183" cy="170656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1" y="4602161"/>
            <a:ext cx="3224742" cy="1727202"/>
          </a:xfrm>
          <a:prstGeom prst="rect">
            <a:avLst/>
          </a:prstGeom>
        </p:spPr>
      </p:pic>
      <p:sp>
        <p:nvSpPr>
          <p:cNvPr id="13" name="Content Placeholder 2"/>
          <p:cNvSpPr txBox="1">
            <a:spLocks/>
          </p:cNvSpPr>
          <p:nvPr/>
        </p:nvSpPr>
        <p:spPr>
          <a:xfrm>
            <a:off x="228600" y="3429000"/>
            <a:ext cx="1892301" cy="6945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b="1" dirty="0" smtClean="0">
                <a:solidFill>
                  <a:srgbClr val="002060"/>
                </a:solidFill>
              </a:rPr>
              <a:t>Freelances</a:t>
            </a:r>
            <a:r>
              <a:rPr lang="fr-FR" dirty="0" smtClean="0"/>
              <a:t> </a:t>
            </a:r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425449" y="4953000"/>
            <a:ext cx="1346200" cy="694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fr-FR" b="1" dirty="0" smtClean="0">
                <a:solidFill>
                  <a:srgbClr val="002060"/>
                </a:solidFill>
              </a:rPr>
              <a:t>Tarifs</a:t>
            </a:r>
            <a:r>
              <a:rPr lang="fr-FR" dirty="0" smtClean="0"/>
              <a:t>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157162"/>
            <a:ext cx="6286500" cy="630238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rgbClr val="002060"/>
                </a:solidFill>
              </a:rPr>
              <a:t>Fonctionnalités</a:t>
            </a:r>
            <a:r>
              <a:rPr b="1" dirty="0">
                <a:solidFill>
                  <a:srgbClr val="002060"/>
                </a:solidFill>
              </a:rPr>
              <a:t> JavaScript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" y="2489200"/>
            <a:ext cx="8013700" cy="4089400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endParaRPr sz="4000" b="1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sz="7200" b="1" dirty="0" err="1">
                <a:solidFill>
                  <a:srgbClr val="002060"/>
                </a:solidFill>
              </a:rPr>
              <a:t>Filtrage</a:t>
            </a:r>
            <a:r>
              <a:rPr sz="7200" b="1" dirty="0">
                <a:solidFill>
                  <a:srgbClr val="002060"/>
                </a:solidFill>
              </a:rPr>
              <a:t> </a:t>
            </a:r>
            <a:r>
              <a:rPr sz="7200" b="1" dirty="0" err="1">
                <a:solidFill>
                  <a:srgbClr val="002060"/>
                </a:solidFill>
              </a:rPr>
              <a:t>dynamique</a:t>
            </a:r>
            <a:r>
              <a:rPr sz="7200" b="1" dirty="0">
                <a:solidFill>
                  <a:srgbClr val="002060"/>
                </a:solidFill>
              </a:rPr>
              <a:t> des </a:t>
            </a:r>
            <a:r>
              <a:rPr sz="7200" b="1" dirty="0" smtClean="0">
                <a:solidFill>
                  <a:srgbClr val="002060"/>
                </a:solidFill>
              </a:rPr>
              <a:t>freelances</a:t>
            </a:r>
            <a:endParaRPr lang="en-US" sz="7200" b="1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sz="7200" dirty="0" err="1">
                <a:solidFill>
                  <a:srgbClr val="0070C0"/>
                </a:solidFill>
              </a:rPr>
              <a:t>const</a:t>
            </a:r>
            <a:r>
              <a:rPr lang="en-US" sz="7200" dirty="0">
                <a:solidFill>
                  <a:srgbClr val="0070C0"/>
                </a:solidFill>
              </a:rPr>
              <a:t> cards = </a:t>
            </a:r>
            <a:r>
              <a:rPr lang="en-US" sz="7200" dirty="0" err="1">
                <a:solidFill>
                  <a:srgbClr val="0070C0"/>
                </a:solidFill>
              </a:rPr>
              <a:t>document.querySelectorAll</a:t>
            </a:r>
            <a:r>
              <a:rPr lang="en-US" sz="7200" dirty="0">
                <a:solidFill>
                  <a:srgbClr val="0070C0"/>
                </a:solidFill>
              </a:rPr>
              <a:t>(".freelance-card</a:t>
            </a:r>
            <a:r>
              <a:rPr lang="en-US" sz="7200" dirty="0" smtClean="0">
                <a:solidFill>
                  <a:srgbClr val="0070C0"/>
                </a:solidFill>
              </a:rPr>
              <a:t>");</a:t>
            </a:r>
            <a:r>
              <a:rPr lang="en-US" sz="7200" dirty="0">
                <a:solidFill>
                  <a:srgbClr val="0070C0"/>
                </a:solidFill>
              </a:rPr>
              <a:t/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>
                <a:solidFill>
                  <a:srgbClr val="0070C0"/>
                </a:solidFill>
              </a:rPr>
              <a:t>function </a:t>
            </a:r>
            <a:r>
              <a:rPr lang="en-US" sz="7200" dirty="0" err="1">
                <a:solidFill>
                  <a:srgbClr val="0070C0"/>
                </a:solidFill>
              </a:rPr>
              <a:t>filterFreelancers</a:t>
            </a:r>
            <a:r>
              <a:rPr lang="en-US" sz="7200" dirty="0">
                <a:solidFill>
                  <a:srgbClr val="0070C0"/>
                </a:solidFill>
              </a:rPr>
              <a:t>(category) {</a:t>
            </a:r>
            <a:br>
              <a:rPr lang="en-US" sz="7200" dirty="0">
                <a:solidFill>
                  <a:srgbClr val="0070C0"/>
                </a:solidFill>
              </a:rPr>
            </a:br>
            <a:r>
              <a:rPr lang="en-US" sz="7200" dirty="0" err="1">
                <a:solidFill>
                  <a:srgbClr val="0070C0"/>
                </a:solidFill>
              </a:rPr>
              <a:t>cards.forEach</a:t>
            </a:r>
            <a:r>
              <a:rPr lang="en-US" sz="7200" dirty="0">
                <a:solidFill>
                  <a:srgbClr val="0070C0"/>
                </a:solidFill>
              </a:rPr>
              <a:t>(card =&gt; {</a:t>
            </a:r>
            <a:endParaRPr lang="en-US" sz="7200" b="1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7200" dirty="0">
                <a:solidFill>
                  <a:srgbClr val="0070C0"/>
                </a:solidFill>
              </a:rPr>
              <a:t>if (</a:t>
            </a:r>
            <a:r>
              <a:rPr lang="fr-FR" sz="7200" dirty="0" err="1">
                <a:solidFill>
                  <a:srgbClr val="0070C0"/>
                </a:solidFill>
              </a:rPr>
              <a:t>filter</a:t>
            </a:r>
            <a:r>
              <a:rPr lang="fr-FR" sz="7200" dirty="0">
                <a:solidFill>
                  <a:srgbClr val="0070C0"/>
                </a:solidFill>
              </a:rPr>
              <a:t> === 'all' || </a:t>
            </a:r>
            <a:r>
              <a:rPr lang="fr-FR" sz="7200" dirty="0" err="1">
                <a:solidFill>
                  <a:srgbClr val="0070C0"/>
                </a:solidFill>
              </a:rPr>
              <a:t>filter</a:t>
            </a:r>
            <a:r>
              <a:rPr lang="fr-FR" sz="7200" dirty="0">
                <a:solidFill>
                  <a:srgbClr val="0070C0"/>
                </a:solidFill>
              </a:rPr>
              <a:t> === </a:t>
            </a:r>
            <a:r>
              <a:rPr lang="fr-FR" sz="7200" dirty="0" err="1">
                <a:solidFill>
                  <a:srgbClr val="0070C0"/>
                </a:solidFill>
              </a:rPr>
              <a:t>category</a:t>
            </a:r>
            <a:r>
              <a:rPr lang="fr-FR" sz="7200" dirty="0">
                <a:solidFill>
                  <a:srgbClr val="0070C0"/>
                </a:solidFill>
              </a:rPr>
              <a:t>) {</a:t>
            </a:r>
          </a:p>
          <a:p>
            <a:pPr marL="0" indent="0">
              <a:buNone/>
            </a:pPr>
            <a:r>
              <a:rPr lang="fr-FR" sz="7200" dirty="0">
                <a:solidFill>
                  <a:srgbClr val="0070C0"/>
                </a:solidFill>
              </a:rPr>
              <a:t>    </a:t>
            </a:r>
            <a:r>
              <a:rPr lang="fr-FR" sz="7200" dirty="0" err="1">
                <a:solidFill>
                  <a:srgbClr val="0070C0"/>
                </a:solidFill>
              </a:rPr>
              <a:t>item.style.display</a:t>
            </a:r>
            <a:r>
              <a:rPr lang="fr-FR" sz="7200" dirty="0">
                <a:solidFill>
                  <a:srgbClr val="0070C0"/>
                </a:solidFill>
              </a:rPr>
              <a:t> = 'block';</a:t>
            </a:r>
          </a:p>
          <a:p>
            <a:pPr marL="0" indent="0">
              <a:buNone/>
            </a:pPr>
            <a:r>
              <a:rPr lang="fr-FR" sz="7200" dirty="0">
                <a:solidFill>
                  <a:srgbClr val="0070C0"/>
                </a:solidFill>
              </a:rPr>
              <a:t>} </a:t>
            </a:r>
            <a:r>
              <a:rPr lang="fr-FR" sz="7200" dirty="0" err="1">
                <a:solidFill>
                  <a:srgbClr val="0070C0"/>
                </a:solidFill>
              </a:rPr>
              <a:t>else</a:t>
            </a:r>
            <a:r>
              <a:rPr lang="fr-FR" sz="7200" dirty="0">
                <a:solidFill>
                  <a:srgbClr val="0070C0"/>
                </a:solidFill>
              </a:rPr>
              <a:t> {</a:t>
            </a:r>
          </a:p>
          <a:p>
            <a:pPr marL="0" indent="0">
              <a:buNone/>
            </a:pPr>
            <a:r>
              <a:rPr lang="fr-FR" sz="7200" dirty="0">
                <a:solidFill>
                  <a:srgbClr val="0070C0"/>
                </a:solidFill>
              </a:rPr>
              <a:t>    </a:t>
            </a:r>
            <a:r>
              <a:rPr lang="fr-FR" sz="7200" dirty="0" err="1">
                <a:solidFill>
                  <a:srgbClr val="0070C0"/>
                </a:solidFill>
              </a:rPr>
              <a:t>item.style.display</a:t>
            </a:r>
            <a:r>
              <a:rPr lang="fr-FR" sz="7200" dirty="0">
                <a:solidFill>
                  <a:srgbClr val="0070C0"/>
                </a:solidFill>
              </a:rPr>
              <a:t> = </a:t>
            </a:r>
            <a:r>
              <a:rPr lang="fr-FR" sz="7200" dirty="0" smtClean="0">
                <a:solidFill>
                  <a:srgbClr val="0070C0"/>
                </a:solidFill>
              </a:rPr>
              <a:t>'none';</a:t>
            </a:r>
            <a:endParaRPr lang="fr-FR" sz="72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fr-FR" sz="7200" dirty="0" smtClean="0">
                <a:solidFill>
                  <a:srgbClr val="0070C0"/>
                </a:solidFill>
              </a:rPr>
              <a:t>}</a:t>
            </a:r>
          </a:p>
          <a:p>
            <a:pPr marL="0" indent="0">
              <a:buNone/>
            </a:pPr>
            <a:r>
              <a:rPr lang="en-US" sz="7200" dirty="0" smtClean="0">
                <a:solidFill>
                  <a:srgbClr val="0070C0"/>
                </a:solidFill>
              </a:rPr>
              <a:t>});</a:t>
            </a:r>
          </a:p>
          <a:p>
            <a:pPr marL="0" indent="0">
              <a:buNone/>
            </a:pPr>
            <a:r>
              <a:rPr lang="en-US" sz="7200" dirty="0">
                <a:solidFill>
                  <a:srgbClr val="0070C0"/>
                </a:solidFill>
              </a:rPr>
              <a:t>}</a:t>
            </a:r>
            <a:endParaRPr lang="fr-FR" sz="7200" dirty="0" smtClean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7200" b="1" dirty="0" err="1" smtClean="0">
                <a:solidFill>
                  <a:srgbClr val="002060"/>
                </a:solidFill>
              </a:rPr>
              <a:t>Logique</a:t>
            </a:r>
            <a:r>
              <a:rPr lang="en-US" sz="7200" b="1" dirty="0" smtClean="0">
                <a:solidFill>
                  <a:srgbClr val="002060"/>
                </a:solidFill>
              </a:rPr>
              <a:t>: </a:t>
            </a:r>
            <a:r>
              <a:rPr lang="fr-FR" sz="7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Cette </a:t>
            </a:r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fonctionnalité permet d’afficher dynamiquement les freelances selon la catégorie choisie par l’utilisateur.</a:t>
            </a:r>
            <a:b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fr-FR" sz="7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Lorsqu’un filtre est sélectionné, JavaScript compare la catégorie du bouton avec celle des cartes freelances afin d’afficher uniquement les profils correspondants</a:t>
            </a:r>
            <a:r>
              <a:rPr lang="fr-FR" sz="72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.</a:t>
            </a:r>
            <a:endParaRPr lang="en-US" sz="7200" b="1" dirty="0" smtClean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14300" y="1081774"/>
            <a:ext cx="8013700" cy="1231106"/>
          </a:xfrm>
          <a:prstGeom prst="rect">
            <a:avLst/>
          </a:prstGeom>
          <a:solidFill>
            <a:srgbClr val="EDF2F9"/>
          </a:solidFill>
          <a:ln>
            <a:noFill/>
          </a:ln>
          <a:effectLst>
            <a:softEdge rad="63500"/>
          </a:effec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002244"/>
                </a:solidFill>
                <a:effectLst/>
                <a:latin typeface="+mn-lt"/>
              </a:rPr>
              <a:t>Dark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document.body.classList.toggle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("</a:t>
            </a:r>
            <a:r>
              <a:rPr kumimoji="0" lang="fr-FR" altLang="fr-FR" sz="2000" b="0" i="0" u="none" strike="noStrike" cap="none" normalizeH="0" baseline="0" dirty="0" err="1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dark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-mode");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000" b="1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Logique: </a:t>
            </a:r>
            <a:r>
              <a:rPr kumimoji="0" lang="fr-FR" altLang="fr-FR" sz="2000" b="0" i="0" u="none" strike="noStrike" cap="none" normalizeH="0" baseline="0" dirty="0" smtClean="0">
                <a:ln>
                  <a:noFill/>
                </a:ln>
                <a:solidFill>
                  <a:srgbClr val="475569"/>
                </a:solidFill>
                <a:effectLst/>
                <a:latin typeface="+mn-lt"/>
              </a:rPr>
              <a:t>Cette fonction permet d’activer ou désactiver le mode sombre dynamiquement en ajoutant une classe CSS au body</a:t>
            </a:r>
            <a:endParaRPr kumimoji="0" lang="fr-FR" altLang="fr-FR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116681"/>
            <a:ext cx="3797300" cy="52863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2060"/>
                </a:solidFill>
              </a:rPr>
              <a:t>CSS &amp; Bootstrap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825501"/>
            <a:ext cx="8166100" cy="2755900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002060"/>
                </a:solidFill>
              </a:rPr>
              <a:t>CSS (style personnalis</a:t>
            </a:r>
            <a:r>
              <a:rPr lang="fr-FR" sz="2800" b="1" dirty="0" smtClean="0">
                <a:solidFill>
                  <a:srgbClr val="002060"/>
                </a:solidFill>
              </a:rPr>
              <a:t>é</a:t>
            </a:r>
            <a:r>
              <a:rPr lang="en-US" sz="2800" b="1" dirty="0" smtClean="0">
                <a:solidFill>
                  <a:srgbClr val="002060"/>
                </a:solidFill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Utilisation de Flexbox / Grid pour l’organisation</a:t>
            </a:r>
            <a:endParaRPr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Responsive design avec media queries</a:t>
            </a:r>
            <a:endParaRPr lang="en-US"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Styles personnalis</a:t>
            </a:r>
            <a:r>
              <a:rPr lang="fr-F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é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s pour les composants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Effets hover et transitions pour am</a:t>
            </a:r>
            <a:r>
              <a:rPr lang="fr-FR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é</a:t>
            </a:r>
            <a:r>
              <a:rPr lang="en-US" sz="2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liorer l’UX</a:t>
            </a:r>
            <a:endParaRPr sz="28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27000" y="3941765"/>
            <a:ext cx="8166100" cy="2611435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b="1" dirty="0">
                <a:solidFill>
                  <a:srgbClr val="002060"/>
                </a:solidFill>
              </a:rPr>
              <a:t>Bootstrap (</a:t>
            </a:r>
            <a:r>
              <a:rPr lang="fr-FR" sz="2800" b="1" dirty="0" err="1">
                <a:solidFill>
                  <a:srgbClr val="002060"/>
                </a:solidFill>
              </a:rPr>
              <a:t>framework</a:t>
            </a:r>
            <a:r>
              <a:rPr lang="fr-FR" sz="2800" b="1" dirty="0">
                <a:solidFill>
                  <a:srgbClr val="002060"/>
                </a:solidFill>
              </a:rPr>
              <a:t>)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Navbar</a:t>
            </a:r>
            <a:r>
              <a:rPr lang="fr-F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(menu)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Cards</a:t>
            </a:r>
            <a:r>
              <a:rPr lang="fr-F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(profils freelances)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Buttons (actions et filtres)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Grid system (layout responsive)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5500" y="215901"/>
            <a:ext cx="5245100" cy="406400"/>
          </a:xfrm>
        </p:spPr>
        <p:txBody>
          <a:bodyPr>
            <a:normAutofit fontScale="90000"/>
          </a:bodyPr>
          <a:lstStyle/>
          <a:p>
            <a:r>
              <a:rPr sz="4000" b="1" dirty="0" err="1">
                <a:solidFill>
                  <a:srgbClr val="002060"/>
                </a:solidFill>
              </a:rPr>
              <a:t>Git</a:t>
            </a:r>
            <a:r>
              <a:rPr sz="4000" b="1" dirty="0">
                <a:solidFill>
                  <a:srgbClr val="002060"/>
                </a:solidFill>
              </a:rPr>
              <a:t> &amp;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762002"/>
            <a:ext cx="8229600" cy="266699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b="1" u="sng" dirty="0" err="1">
                <a:solidFill>
                  <a:srgbClr val="002060"/>
                </a:solidFill>
              </a:rPr>
              <a:t>Historique</a:t>
            </a:r>
            <a:r>
              <a:rPr b="1" u="sng" dirty="0">
                <a:solidFill>
                  <a:srgbClr val="002060"/>
                </a:solidFill>
              </a:rPr>
              <a:t> des commits </a:t>
            </a:r>
            <a:r>
              <a:rPr b="1" u="sng" dirty="0" err="1" smtClean="0">
                <a:solidFill>
                  <a:srgbClr val="002060"/>
                </a:solidFill>
              </a:rPr>
              <a:t>organisé</a:t>
            </a:r>
            <a:endParaRPr lang="en-US" b="1" u="sng" dirty="0" smtClean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1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Init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création du dépôt, arborescence des fichiers et structure HTML de base </a:t>
            </a:r>
            <a:endParaRPr lang="fr-FR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2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HTML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structure complète des 5 pages avec sections et contenu texte </a:t>
            </a:r>
            <a:endParaRPr lang="fr-FR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3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variables, typographie, layout général et styles de base</a:t>
            </a:r>
          </a:p>
          <a:p>
            <a:pPr marL="0" indent="0">
              <a:buNone/>
            </a:pPr>
            <a:r>
              <a:rPr lang="fr-FR" b="1" dirty="0" smtClean="0"/>
              <a:t>Commit 4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Bento Grid, sections hero et catégories, effets hover </a:t>
            </a:r>
            <a:endParaRPr lang="fr-FR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5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CSS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responsive design mobile et tablette, media queries </a:t>
            </a:r>
            <a:endParaRPr lang="fr-FR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6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dark mode avec localStorage, navbar dynamique au scroll</a:t>
            </a:r>
          </a:p>
          <a:p>
            <a:pPr marL="0" indent="0">
              <a:buNone/>
            </a:pPr>
            <a:r>
              <a:rPr lang="fr-FR" b="1" dirty="0" smtClean="0"/>
              <a:t>Commit 7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compteurs animés au scroll et animations fade-in des sections </a:t>
            </a:r>
            <a:endParaRPr lang="fr-FR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fr-FR" b="1" dirty="0" smtClean="0"/>
              <a:t>Commit 8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JS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filtrage dynamique des freelances et validation du formulaire de contact</a:t>
            </a:r>
          </a:p>
          <a:p>
            <a:pPr marL="0" indent="0">
              <a:buNone/>
            </a:pPr>
            <a:r>
              <a:rPr lang="fr-FR" b="1" dirty="0" smtClean="0"/>
              <a:t>Commit 9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 smtClean="0"/>
              <a:t>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Finalisation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 corrections responsive, optimisation du code et commentaires</a:t>
            </a:r>
          </a:p>
          <a:p>
            <a:pPr marL="0" indent="0">
              <a:buNone/>
            </a:pPr>
            <a:r>
              <a:rPr lang="fr-FR" b="1" dirty="0" smtClean="0"/>
              <a:t>Commit 10 </a:t>
            </a:r>
            <a:r>
              <a:rPr lang="fr-FR" b="1" dirty="0"/>
              <a:t>:</a:t>
            </a:r>
            <a:r>
              <a:rPr lang="fr-FR" dirty="0"/>
              <a:t> </a:t>
            </a:r>
            <a:r>
              <a:rPr lang="fr-FR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Déploiement : GitHub Pages activé, README finalisé et présentation PowerPoint </a:t>
            </a:r>
            <a:r>
              <a:rPr lang="fr-FR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ajoutée</a:t>
            </a:r>
            <a:endParaRPr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04800" y="3505201"/>
            <a:ext cx="4546600" cy="5714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 u="sng" dirty="0">
                <a:solidFill>
                  <a:srgbClr val="C00000"/>
                </a:solidFill>
              </a:rPr>
              <a:t>Workflow Git </a:t>
            </a:r>
            <a:r>
              <a:rPr lang="fr-FR" sz="1600" b="1" u="sng" dirty="0" smtClean="0">
                <a:solidFill>
                  <a:srgbClr val="C00000"/>
                </a:solidFill>
              </a:rPr>
              <a:t>structuré</a:t>
            </a:r>
            <a:endParaRPr lang="fr-FR" sz="1600" b="1" u="sng" dirty="0">
              <a:solidFill>
                <a:srgbClr val="C00000"/>
              </a:solidFill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6045201"/>
            <a:ext cx="6769100" cy="82549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1600" b="1" u="sng" dirty="0">
                <a:solidFill>
                  <a:srgbClr val="002060"/>
                </a:solidFill>
              </a:rPr>
              <a:t>Déploiement du site en ligne:</a:t>
            </a:r>
          </a:p>
          <a:p>
            <a:pPr marL="0" indent="0">
              <a:buNone/>
            </a:pPr>
            <a:r>
              <a:rPr lang="fr-FR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https://</a:t>
            </a:r>
            <a:r>
              <a:rPr lang="fr-FR" sz="18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sophiesticated221.github.io/TIMERA-OUMOULKHAIRI-AfriTalent</a:t>
            </a:r>
            <a:r>
              <a:rPr lang="fr-FR" sz="1600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/</a:t>
            </a:r>
          </a:p>
          <a:p>
            <a:pPr marL="0" indent="0">
              <a:buNone/>
            </a:pPr>
            <a:endParaRPr lang="fr-FR" sz="6400" b="1" u="sng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graphicFrame>
        <p:nvGraphicFramePr>
          <p:cNvPr id="7" name="Tableau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77741"/>
              </p:ext>
            </p:extLst>
          </p:nvPr>
        </p:nvGraphicFramePr>
        <p:xfrm>
          <a:off x="457200" y="4076700"/>
          <a:ext cx="6096000" cy="184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388351973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864936712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Etapes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23118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solidFill>
                            <a:srgbClr val="FFC000"/>
                          </a:solidFill>
                        </a:rPr>
                        <a:t>Git</a:t>
                      </a:r>
                      <a:r>
                        <a:rPr lang="fr-FR" sz="1800" dirty="0" smtClean="0"/>
                        <a:t> </a:t>
                      </a:r>
                      <a:r>
                        <a:rPr lang="fr-FR" sz="1800" dirty="0" err="1" smtClean="0"/>
                        <a:t>init</a:t>
                      </a:r>
                      <a:r>
                        <a:rPr lang="fr-FR" sz="1800" dirty="0" smtClean="0"/>
                        <a:t>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800" dirty="0" smtClean="0"/>
                        <a:t>initialisation du projet</a:t>
                      </a:r>
                      <a:endParaRPr lang="fr-F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811675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solidFill>
                            <a:srgbClr val="FFC000"/>
                          </a:solidFill>
                        </a:rPr>
                        <a:t>Git</a:t>
                      </a:r>
                      <a:r>
                        <a:rPr lang="fr-FR" sz="1800" dirty="0" smtClean="0"/>
                        <a:t> </a:t>
                      </a:r>
                      <a:r>
                        <a:rPr lang="fr-FR" sz="1800" dirty="0" err="1" smtClean="0"/>
                        <a:t>add</a:t>
                      </a:r>
                      <a:r>
                        <a:rPr lang="fr-FR" sz="1800" dirty="0" smtClean="0"/>
                        <a:t>  .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800" dirty="0" smtClean="0"/>
                        <a:t>ajout des modifications</a:t>
                      </a:r>
                      <a:endParaRPr lang="fr-F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635316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solidFill>
                            <a:srgbClr val="FFC000"/>
                          </a:solidFill>
                        </a:rPr>
                        <a:t>Git</a:t>
                      </a:r>
                      <a:r>
                        <a:rPr lang="fr-FR" sz="1800" dirty="0" smtClean="0">
                          <a:solidFill>
                            <a:srgbClr val="FFFF00"/>
                          </a:solidFill>
                        </a:rPr>
                        <a:t> </a:t>
                      </a:r>
                      <a:r>
                        <a:rPr lang="fr-FR" sz="1800" dirty="0" smtClean="0"/>
                        <a:t>commit –m “message”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800" dirty="0" smtClean="0"/>
                        <a:t>sauvegarde des étapes</a:t>
                      </a:r>
                      <a:endParaRPr lang="fr-F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914039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fr-FR" sz="1800" dirty="0" smtClean="0">
                          <a:solidFill>
                            <a:srgbClr val="FFC000"/>
                          </a:solidFill>
                        </a:rPr>
                        <a:t>Git</a:t>
                      </a:r>
                      <a:r>
                        <a:rPr lang="fr-FR" sz="1800" dirty="0" smtClean="0"/>
                        <a:t> push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800" dirty="0" smtClean="0"/>
                        <a:t>envoi sur </a:t>
                      </a:r>
                      <a:r>
                        <a:rPr lang="fr-FR" sz="1800" dirty="0" err="1" smtClean="0"/>
                        <a:t>Github</a:t>
                      </a:r>
                      <a:endParaRPr lang="fr-FR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161458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8000" y="236538"/>
            <a:ext cx="5892800" cy="846138"/>
          </a:xfrm>
          <a:ln>
            <a:noFill/>
          </a:ln>
        </p:spPr>
        <p:txBody>
          <a:bodyPr>
            <a:normAutofit/>
          </a:bodyPr>
          <a:lstStyle/>
          <a:p>
            <a:r>
              <a:rPr b="1" dirty="0" err="1">
                <a:solidFill>
                  <a:srgbClr val="002060"/>
                </a:solidFill>
              </a:rPr>
              <a:t>Difficultés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lang="en-US" b="1" dirty="0" smtClean="0">
                <a:solidFill>
                  <a:srgbClr val="002060"/>
                </a:solidFill>
              </a:rPr>
              <a:t>&amp; Solutions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200" y="1417638"/>
            <a:ext cx="4114800" cy="2697163"/>
          </a:xfrm>
          <a:solidFill>
            <a:srgbClr val="EDF2F9"/>
          </a:solidFill>
          <a:effectLst>
            <a:softEdge rad="63500"/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 smtClean="0"/>
              <a:t>1. </a:t>
            </a:r>
            <a:r>
              <a:rPr lang="en-US" sz="2000" b="1" dirty="0" smtClean="0">
                <a:solidFill>
                  <a:srgbClr val="002060"/>
                </a:solidFill>
              </a:rPr>
              <a:t>Flash en mode somber lors du changement de page</a:t>
            </a:r>
          </a:p>
          <a:p>
            <a:pPr marL="0" indent="0">
              <a:buNone/>
            </a:pPr>
            <a:r>
              <a:rPr lang="en-US" sz="2000" b="1" dirty="0" smtClean="0"/>
              <a:t>Solution</a:t>
            </a:r>
            <a:r>
              <a:rPr lang="en-US" sz="2000" dirty="0" smtClean="0"/>
              <a:t>: ajout d’un script dans le &lt;head&gt; pour appliquer le th</a:t>
            </a:r>
            <a:r>
              <a:rPr lang="fr-FR" sz="2000" dirty="0"/>
              <a:t>è</a:t>
            </a:r>
            <a:r>
              <a:rPr lang="en-US" sz="2000" dirty="0" smtClean="0"/>
              <a:t>me d</a:t>
            </a:r>
            <a:r>
              <a:rPr lang="fr-FR" sz="2000" dirty="0" smtClean="0"/>
              <a:t>è</a:t>
            </a:r>
            <a:r>
              <a:rPr lang="en-US" sz="2000" dirty="0" smtClean="0"/>
              <a:t>s le chargement de la page (avant l’affichage du contenu), ce qui a supprim</a:t>
            </a:r>
            <a:r>
              <a:rPr lang="fr-FR" sz="2000" dirty="0" smtClean="0"/>
              <a:t>é</a:t>
            </a:r>
            <a:r>
              <a:rPr lang="en-US" sz="2000" dirty="0" smtClean="0"/>
              <a:t> le flash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724400" y="1417639"/>
            <a:ext cx="4114800" cy="2697162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/>
              <a:t>2. </a:t>
            </a:r>
            <a:r>
              <a:rPr lang="fr-FR" sz="2000" b="1" dirty="0" smtClean="0">
                <a:solidFill>
                  <a:srgbClr val="002060"/>
                </a:solidFill>
              </a:rPr>
              <a:t>Problème </a:t>
            </a:r>
            <a:r>
              <a:rPr lang="fr-FR" sz="2000" b="1" dirty="0">
                <a:solidFill>
                  <a:srgbClr val="002060"/>
                </a:solidFill>
              </a:rPr>
              <a:t>de débordements des éléments</a:t>
            </a:r>
          </a:p>
          <a:p>
            <a:pPr marL="0" indent="0">
              <a:buNone/>
            </a:pPr>
            <a:r>
              <a:rPr lang="fr-FR" sz="2000" b="1" dirty="0"/>
              <a:t>  Solution: </a:t>
            </a:r>
            <a:r>
              <a:rPr lang="fr-FR" sz="2000" dirty="0"/>
              <a:t>correction du CSS et </a:t>
            </a:r>
            <a:r>
              <a:rPr lang="fr-FR" sz="2000" dirty="0" smtClean="0"/>
              <a:t>utilisation </a:t>
            </a:r>
            <a:r>
              <a:rPr lang="fr-FR" sz="2000" dirty="0"/>
              <a:t>de Bootstrap (gestion du responsive, flexbox et ajustement des largeurs</a:t>
            </a:r>
            <a:r>
              <a:rPr lang="fr-FR" sz="2000" dirty="0" smtClean="0"/>
              <a:t>)</a:t>
            </a:r>
            <a:endParaRPr lang="fr-FR" sz="20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514600" y="4449763"/>
            <a:ext cx="4622800" cy="2281237"/>
          </a:xfrm>
          <a:prstGeom prst="rect">
            <a:avLst/>
          </a:prstGeom>
          <a:solidFill>
            <a:srgbClr val="EDF2F9"/>
          </a:solidFill>
          <a:effectLst>
            <a:softEdge rad="63500"/>
          </a:effectLst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dirty="0" smtClean="0"/>
              <a:t> </a:t>
            </a:r>
            <a:r>
              <a:rPr lang="fr-FR" sz="2000" dirty="0"/>
              <a:t>3. </a:t>
            </a:r>
            <a:r>
              <a:rPr lang="fr-FR" sz="2000" b="1" dirty="0">
                <a:solidFill>
                  <a:srgbClr val="002060"/>
                </a:solidFill>
              </a:rPr>
              <a:t>Page freelance qui ne s’affiche pas correctement</a:t>
            </a:r>
          </a:p>
          <a:p>
            <a:pPr marL="0" indent="0">
              <a:buNone/>
            </a:pPr>
            <a:r>
              <a:rPr lang="fr-FR" sz="2000" b="1" dirty="0"/>
              <a:t>Solution</a:t>
            </a:r>
            <a:r>
              <a:rPr lang="fr-FR" sz="2000" dirty="0"/>
              <a:t>: suppression d’une propriété CSS (</a:t>
            </a:r>
            <a:r>
              <a:rPr lang="fr-FR" sz="2000" dirty="0" err="1"/>
              <a:t>opacity</a:t>
            </a:r>
            <a:r>
              <a:rPr lang="fr-FR" sz="2000" dirty="0"/>
              <a:t>)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80962"/>
            <a:ext cx="4978400" cy="681038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rgbClr val="002060"/>
                </a:solidFill>
              </a:rPr>
              <a:t>Ressources</a:t>
            </a:r>
            <a:r>
              <a:rPr b="1" dirty="0">
                <a:solidFill>
                  <a:srgbClr val="002060"/>
                </a:solidFill>
              </a:rPr>
              <a:t> </a:t>
            </a:r>
            <a:r>
              <a:rPr b="1" dirty="0" err="1">
                <a:solidFill>
                  <a:srgbClr val="002060"/>
                </a:solidFill>
              </a:rPr>
              <a:t>utilisées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5600" y="1371600"/>
            <a:ext cx="3263900" cy="452596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Bootstrap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W3C Validator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 err="1" smtClean="0">
                <a:solidFill>
                  <a:schemeClr val="accent1">
                    <a:lumMod val="75000"/>
                  </a:schemeClr>
                </a:solidFill>
              </a:rPr>
              <a:t>Unsplash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Bootstrap Icons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Google Fonts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Google image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GitHub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101600"/>
            <a:ext cx="4724400" cy="744538"/>
          </a:xfrm>
        </p:spPr>
        <p:txBody>
          <a:bodyPr>
            <a:normAutofit fontScale="90000"/>
          </a:bodyPr>
          <a:lstStyle/>
          <a:p>
            <a:r>
              <a:rPr b="1" dirty="0" err="1">
                <a:solidFill>
                  <a:srgbClr val="002060"/>
                </a:solidFill>
              </a:rPr>
              <a:t>Démonstration</a:t>
            </a:r>
            <a:r>
              <a:rPr b="1" dirty="0">
                <a:solidFill>
                  <a:srgbClr val="002060"/>
                </a:solidFill>
              </a:rPr>
              <a:t>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700" y="1828801"/>
            <a:ext cx="7518400" cy="231139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Présentation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en direct du site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AfriTalent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Navigation entre les pages.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Activation du dark mode.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Affichage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responsive mobile.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9800" y="444500"/>
            <a:ext cx="3314700" cy="1066800"/>
          </a:xfrm>
        </p:spPr>
        <p:txBody>
          <a:bodyPr>
            <a:normAutofit/>
          </a:bodyPr>
          <a:lstStyle/>
          <a:p>
            <a:r>
              <a:rPr b="1" dirty="0">
                <a:solidFill>
                  <a:srgbClr val="00206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600202"/>
            <a:ext cx="8229600" cy="2882900"/>
          </a:xfrm>
        </p:spPr>
        <p:txBody>
          <a:bodyPr/>
          <a:lstStyle/>
          <a:p>
            <a:pPr marL="0" indent="0">
              <a:buNone/>
            </a:pPr>
            <a:r>
              <a:rPr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Projet</a:t>
            </a:r>
            <a:r>
              <a:rPr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permettant</a:t>
            </a:r>
            <a:r>
              <a:rPr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de </a:t>
            </a:r>
            <a:r>
              <a:rPr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renforcer</a:t>
            </a:r>
            <a:r>
              <a:rPr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les </a:t>
            </a:r>
            <a:r>
              <a:rPr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compétences</a:t>
            </a:r>
            <a:r>
              <a:rPr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en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développement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front-end.</a:t>
            </a:r>
          </a:p>
          <a:p>
            <a:pPr marL="0" indent="0">
              <a:buNone/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Maîtrise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du responsive design, du JavaScript et de GitHub.</a:t>
            </a:r>
          </a:p>
          <a:p>
            <a:pPr marL="0" indent="0">
              <a:buNone/>
            </a:pP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Expérience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enrichissante</a:t>
            </a: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 en conception UI/UX.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0400" y="241300"/>
            <a:ext cx="6921500" cy="681038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rgbClr val="002060"/>
                </a:solidFill>
              </a:rPr>
              <a:t>Perspectives </a:t>
            </a:r>
            <a:r>
              <a:rPr b="1" dirty="0" err="1">
                <a:solidFill>
                  <a:srgbClr val="002060"/>
                </a:solidFill>
              </a:rPr>
              <a:t>d'amélioration</a:t>
            </a:r>
            <a:endParaRPr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Ajout d’un backend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Authentification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utilisateurs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Système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de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messagerie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Cr</a:t>
            </a:r>
            <a:r>
              <a:rPr lang="fr-FR" dirty="0" smtClean="0">
                <a:solidFill>
                  <a:schemeClr val="accent1">
                    <a:lumMod val="75000"/>
                  </a:schemeClr>
                </a:solidFill>
              </a:rPr>
              <a:t>é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d’une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</a:t>
            </a:r>
            <a:r>
              <a:rPr dirty="0" smtClean="0">
                <a:solidFill>
                  <a:schemeClr val="accent1">
                    <a:lumMod val="75000"/>
                  </a:schemeClr>
                </a:solidFill>
              </a:rPr>
              <a:t>ase 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de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données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Recherche</a:t>
            </a:r>
            <a:r>
              <a:rPr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avancée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>
                <a:solidFill>
                  <a:schemeClr val="accent1">
                    <a:lumMod val="75000"/>
                  </a:schemeClr>
                </a:solidFill>
              </a:rPr>
              <a:t>Mise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en place de </a:t>
            </a:r>
            <a:r>
              <a:rPr lang="en-US" dirty="0" err="1">
                <a:solidFill>
                  <a:schemeClr val="accent1">
                    <a:lumMod val="75000"/>
                  </a:schemeClr>
                </a:solidFill>
              </a:rPr>
              <a:t>p</a:t>
            </a:r>
            <a:r>
              <a:rPr dirty="0" err="1" smtClean="0">
                <a:solidFill>
                  <a:schemeClr val="accent1">
                    <a:lumMod val="75000"/>
                  </a:schemeClr>
                </a:solidFill>
              </a:rPr>
              <a:t>aiement</a:t>
            </a:r>
            <a:r>
              <a:rPr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dirty="0" err="1">
                <a:solidFill>
                  <a:schemeClr val="accent1">
                    <a:lumMod val="75000"/>
                  </a:schemeClr>
                </a:solidFill>
              </a:rPr>
              <a:t>sécurisé</a:t>
            </a:r>
            <a:endParaRPr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702</Words>
  <Application>Microsoft Office PowerPoint</Application>
  <PresentationFormat>Affichage à l'écran (4:3)</PresentationFormat>
  <Paragraphs>122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9" baseType="lpstr">
      <vt:lpstr>Arial</vt:lpstr>
      <vt:lpstr>Calibri</vt:lpstr>
      <vt:lpstr>Wingdings</vt:lpstr>
      <vt:lpstr>Office Theme</vt:lpstr>
      <vt:lpstr>Présentation PowerPoint</vt:lpstr>
      <vt:lpstr>Sommaire</vt:lpstr>
      <vt:lpstr>Présentation du projet</vt:lpstr>
      <vt:lpstr>Palette &amp; identité visuelle</vt:lpstr>
      <vt:lpstr>Typographie &amp; inspirations</vt:lpstr>
      <vt:lpstr>Architecture du projet</vt:lpstr>
      <vt:lpstr>Pages du site</vt:lpstr>
      <vt:lpstr>Fonctionnalités JavaScript</vt:lpstr>
      <vt:lpstr>CSS &amp; Bootstrap</vt:lpstr>
      <vt:lpstr>Git &amp; GitHub</vt:lpstr>
      <vt:lpstr>Difficultés &amp; Solutions</vt:lpstr>
      <vt:lpstr>Ressources utilisées</vt:lpstr>
      <vt:lpstr>Démonstration live</vt:lpstr>
      <vt:lpstr>Conclusion</vt:lpstr>
      <vt:lpstr>Perspectives d'amélioration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Page de titre</dc:title>
  <dc:subject/>
  <dc:creator>PC</dc:creator>
  <cp:keywords/>
  <dc:description>generated using python-pptx</dc:description>
  <cp:lastModifiedBy>PC</cp:lastModifiedBy>
  <cp:revision>27</cp:revision>
  <dcterms:created xsi:type="dcterms:W3CDTF">2013-01-27T09:14:16Z</dcterms:created>
  <dcterms:modified xsi:type="dcterms:W3CDTF">2026-07-03T01:20:25Z</dcterms:modified>
  <cp:category/>
</cp:coreProperties>
</file>